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interviewed 20 people: students aged 20 to 24, plus one working adult, all from Angeles and Pampanga. Each interview had two parts. First, 8 questions about how they pick a place to go. Then we showed them the Keni prototype and asked what they thought. (About 35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board. Our customer segment is students and young adults who hang out in Angeles and Pampanga. The problem: there is no single place to find out what is open, affordable and worth visiting, and group decisions are slow. Our solution is Keni. We tested it with 20 interviews and a prototype walkthrough. All 20 said they would use it, so our action is to pursue. (About 40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we asked about their biggest pains, the top answer was not choosing a place. 72 percent said the place turned out to be full, closed or crowded. 67 percent said shop information was outdated or missing. Budget came third at 56 percent, and half said there are too many options or the group cannot agree. These numbers are from the 18 interviewees whose pains were recorded. (About 40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they solve it today? Most just go for places that are nearby and cheap. After that, they ask friends or family, check Google Maps, or look at Facebook, Instagram and TikTok. Eight said that when a place is full they simply go somewhere else or wait. On reviews: in the five interviews where we have the full answers, detailed first-hand reviews were trusted, and reviews that look paid were not. (About 40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 questions we showed the Keni prototype. All 20 said they would use it, and all 20 agreed to a follow-up. The features people pointed out were the vibe selector, Barkada mode and Surprise Me. The requests were: less information on screen, photos in reviews, and specific menu prices with an average spend. We know people are polite in interviews, so we treat the specific feedback as more useful than the 100 percent. (About 40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we learned. First, the surprise: we expected the problem to be choosing a place, but the bigger pain is not knowing if a place is open, full, or if its info is still correct. Second, price is part of the decision, and most people default to nearby and cheap. Third, groups slow things down: half struggle with too many options or disagreement. Fourth, reviews only help if they feel real. (About 40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action is to pursue. Based on the feedback, we will put open-now, hours and crowd info first, show menu prices and average spend, put less on each screen, and allow photos in reviews. For our next experiment we want to test real use instead of stated interest, and talk to small business owners, since they are the source of the information students said was missing. (About 35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6E5"/>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26B1D"/>
          </a:solidFill>
          <a:ln w="12700">
            <a:solidFill>
              <a:srgbClr val="F26B1D"/>
            </a:solidFill>
            <a:prstDash val="solid"/>
          </a:ln>
        </p:spPr>
      </p:sp>
      <p:sp>
        <p:nvSpPr>
          <p:cNvPr id="3" name="Text 1"/>
          <p:cNvSpPr/>
          <p:nvPr/>
        </p:nvSpPr>
        <p:spPr>
          <a:xfrm>
            <a:off x="502920" y="219456"/>
            <a:ext cx="8138160" cy="237744"/>
          </a:xfrm>
          <a:prstGeom prst="rect">
            <a:avLst/>
          </a:prstGeom>
          <a:noFill/>
          <a:ln/>
        </p:spPr>
        <p:txBody>
          <a:bodyPr wrap="square" lIns="0" tIns="0" rIns="0" bIns="0" rtlCol="0" anchor="ctr"/>
          <a:lstStyle/>
          <a:p>
            <a:pPr indent="0" marL="0">
              <a:buNone/>
            </a:pPr>
            <a:r>
              <a:rPr lang="en-US" sz="1050" b="1" spc="200" kern="0" dirty="0">
                <a:solidFill>
                  <a:srgbClr val="F26B1D"/>
                </a:solidFill>
                <a:latin typeface="Segoe UI" pitchFamily="34" charset="0"/>
                <a:ea typeface="Segoe UI" pitchFamily="34" charset="-122"/>
                <a:cs typeface="Segoe UI" pitchFamily="34" charset="-120"/>
              </a:rPr>
              <a:t>INTERVIEWS OVERVIEW</a:t>
            </a:r>
            <a:endParaRPr lang="en-US" sz="1050" dirty="0"/>
          </a:p>
        </p:txBody>
      </p:sp>
      <p:sp>
        <p:nvSpPr>
          <p:cNvPr id="4" name="Text 2"/>
          <p:cNvSpPr/>
          <p:nvPr/>
        </p:nvSpPr>
        <p:spPr>
          <a:xfrm>
            <a:off x="502920" y="457200"/>
            <a:ext cx="8138160" cy="685800"/>
          </a:xfrm>
          <a:prstGeom prst="rect">
            <a:avLst/>
          </a:prstGeom>
          <a:noFill/>
          <a:ln/>
        </p:spPr>
        <p:txBody>
          <a:bodyPr wrap="square" lIns="0" tIns="0" rIns="0" bIns="0" rtlCol="0" anchor="t">
            <a:normAutofit/>
          </a:bodyPr>
          <a:lstStyle/>
          <a:p>
            <a:pPr indent="0" marL="0">
              <a:buNone/>
            </a:pPr>
            <a:r>
              <a:rPr lang="en-US" sz="2000" b="1" dirty="0">
                <a:solidFill>
                  <a:srgbClr val="2B1D0E"/>
                </a:solidFill>
                <a:latin typeface="Segoe UI" pitchFamily="34" charset="0"/>
                <a:ea typeface="Segoe UI" pitchFamily="34" charset="-122"/>
                <a:cs typeface="Segoe UI" pitchFamily="34" charset="-120"/>
              </a:rPr>
              <a:t>We interviewed 20 people who go out around Angeles</a:t>
            </a:r>
            <a:endParaRPr lang="en-US" sz="2000" dirty="0"/>
          </a:p>
        </p:txBody>
      </p:sp>
      <p:sp>
        <p:nvSpPr>
          <p:cNvPr id="5" name="Text 3"/>
          <p:cNvSpPr/>
          <p:nvPr/>
        </p:nvSpPr>
        <p:spPr>
          <a:xfrm>
            <a:off x="502920" y="4791456"/>
            <a:ext cx="4572000" cy="219456"/>
          </a:xfrm>
          <a:prstGeom prst="rect">
            <a:avLst/>
          </a:prstGeom>
          <a:noFill/>
          <a:ln/>
        </p:spPr>
        <p:txBody>
          <a:bodyPr wrap="square" lIns="0" tIns="0" rIns="0" bIns="0" rtlCol="0" anchor="ctr"/>
          <a:lstStyle/>
          <a:p>
            <a:pPr indent="0" marL="0">
              <a:buNone/>
            </a:pPr>
            <a:r>
              <a:rPr lang="en-US" sz="900" dirty="0">
                <a:solidFill>
                  <a:srgbClr val="7A6650"/>
                </a:solidFill>
                <a:latin typeface="Segoe UI" pitchFamily="34" charset="0"/>
                <a:ea typeface="Segoe UI" pitchFamily="34" charset="-122"/>
                <a:cs typeface="Segoe UI" pitchFamily="34" charset="-120"/>
              </a:rPr>
              <a:t>Keni · Validation results</a:t>
            </a:r>
            <a:endParaRPr lang="en-US" sz="900" dirty="0"/>
          </a:p>
        </p:txBody>
      </p:sp>
      <p:sp>
        <p:nvSpPr>
          <p:cNvPr id="6" name="Text 4"/>
          <p:cNvSpPr/>
          <p:nvPr/>
        </p:nvSpPr>
        <p:spPr>
          <a:xfrm>
            <a:off x="7726680" y="4791456"/>
            <a:ext cx="914400" cy="219456"/>
          </a:xfrm>
          <a:prstGeom prst="rect">
            <a:avLst/>
          </a:prstGeom>
          <a:noFill/>
          <a:ln/>
        </p:spPr>
        <p:txBody>
          <a:bodyPr wrap="square" lIns="0" tIns="0" rIns="0" bIns="0" rtlCol="0" anchor="ctr"/>
          <a:lstStyle/>
          <a:p>
            <a:pPr algn="r" indent="0" marL="0">
              <a:buNone/>
            </a:pPr>
            <a:r>
              <a:rPr lang="en-US" sz="900" dirty="0">
                <a:solidFill>
                  <a:srgbClr val="7A6650"/>
                </a:solidFill>
                <a:latin typeface="Segoe UI" pitchFamily="34" charset="0"/>
                <a:ea typeface="Segoe UI" pitchFamily="34" charset="-122"/>
                <a:cs typeface="Segoe UI" pitchFamily="34" charset="-120"/>
              </a:rPr>
              <a:t>1 / 7</a:t>
            </a:r>
            <a:endParaRPr lang="en-US" sz="900" dirty="0"/>
          </a:p>
        </p:txBody>
      </p:sp>
      <p:sp>
        <p:nvSpPr>
          <p:cNvPr id="8" name="Shape 5"/>
          <p:cNvSpPr/>
          <p:nvPr/>
        </p:nvSpPr>
        <p:spPr>
          <a:xfrm>
            <a:off x="502920" y="1234440"/>
            <a:ext cx="1828800" cy="1417320"/>
          </a:xfrm>
          <a:prstGeom prst="roundRect">
            <a:avLst>
              <a:gd name="adj" fmla="val 6452"/>
            </a:avLst>
          </a:prstGeom>
          <a:solidFill>
            <a:srgbClr val="FFC83D"/>
          </a:solidFill>
          <a:ln w="9525">
            <a:solidFill>
              <a:srgbClr val="EAD9B8"/>
            </a:solidFill>
            <a:prstDash val="solid"/>
          </a:ln>
        </p:spPr>
      </p:sp>
      <p:sp>
        <p:nvSpPr>
          <p:cNvPr id="9" name="Text 6"/>
          <p:cNvSpPr/>
          <p:nvPr/>
        </p:nvSpPr>
        <p:spPr>
          <a:xfrm>
            <a:off x="502920" y="1298448"/>
            <a:ext cx="1828800" cy="868680"/>
          </a:xfrm>
          <a:prstGeom prst="rect">
            <a:avLst/>
          </a:prstGeom>
          <a:noFill/>
          <a:ln/>
        </p:spPr>
        <p:txBody>
          <a:bodyPr wrap="square" lIns="0" tIns="0" rIns="0" bIns="0" rtlCol="0" anchor="ctr"/>
          <a:lstStyle/>
          <a:p>
            <a:pPr algn="ctr" indent="0" marL="0">
              <a:buNone/>
            </a:pPr>
            <a:r>
              <a:rPr lang="en-US" sz="5400" b="1" dirty="0">
                <a:solidFill>
                  <a:srgbClr val="2B1D0E"/>
                </a:solidFill>
                <a:latin typeface="Segoe UI" pitchFamily="34" charset="0"/>
                <a:ea typeface="Segoe UI" pitchFamily="34" charset="-122"/>
                <a:cs typeface="Segoe UI" pitchFamily="34" charset="-120"/>
              </a:rPr>
              <a:t>20</a:t>
            </a:r>
            <a:endParaRPr lang="en-US" sz="5400" dirty="0"/>
          </a:p>
        </p:txBody>
      </p:sp>
      <p:sp>
        <p:nvSpPr>
          <p:cNvPr id="10" name="Text 7"/>
          <p:cNvSpPr/>
          <p:nvPr/>
        </p:nvSpPr>
        <p:spPr>
          <a:xfrm>
            <a:off x="502920" y="2157984"/>
            <a:ext cx="1828800" cy="329184"/>
          </a:xfrm>
          <a:prstGeom prst="rect">
            <a:avLst/>
          </a:prstGeom>
          <a:noFill/>
          <a:ln/>
        </p:spPr>
        <p:txBody>
          <a:bodyPr wrap="square" lIns="0" tIns="0" rIns="0" bIns="0" rtlCol="0" anchor="t"/>
          <a:lstStyle/>
          <a:p>
            <a:pPr algn="ctr" indent="0" marL="0">
              <a:buNone/>
            </a:pPr>
            <a:r>
              <a:rPr lang="en-US" sz="1300" dirty="0">
                <a:solidFill>
                  <a:srgbClr val="2B1D0E"/>
                </a:solidFill>
                <a:latin typeface="Segoe UI" pitchFamily="34" charset="0"/>
                <a:ea typeface="Segoe UI" pitchFamily="34" charset="-122"/>
                <a:cs typeface="Segoe UI" pitchFamily="34" charset="-120"/>
              </a:rPr>
              <a:t>interviews</a:t>
            </a:r>
            <a:endParaRPr lang="en-US" sz="1300" dirty="0"/>
          </a:p>
        </p:txBody>
      </p:sp>
      <p:sp>
        <p:nvSpPr>
          <p:cNvPr id="11" name="Text 8"/>
          <p:cNvSpPr/>
          <p:nvPr/>
        </p:nvSpPr>
        <p:spPr>
          <a:xfrm>
            <a:off x="502920" y="2852928"/>
            <a:ext cx="731520" cy="457200"/>
          </a:xfrm>
          <a:prstGeom prst="rect">
            <a:avLst/>
          </a:prstGeom>
          <a:noFill/>
          <a:ln/>
        </p:spPr>
        <p:txBody>
          <a:bodyPr wrap="square" lIns="0" tIns="0" rIns="0" bIns="0" rtlCol="0" anchor="t"/>
          <a:lstStyle/>
          <a:p>
            <a:pPr indent="0" marL="0">
              <a:buNone/>
            </a:pPr>
            <a:r>
              <a:rPr lang="en-US" sz="1000" b="1" spc="150" kern="0" dirty="0">
                <a:solidFill>
                  <a:srgbClr val="F26B1D"/>
                </a:solidFill>
                <a:latin typeface="Segoe UI" pitchFamily="34" charset="0"/>
                <a:ea typeface="Segoe UI" pitchFamily="34" charset="-122"/>
                <a:cs typeface="Segoe UI" pitchFamily="34" charset="-120"/>
              </a:rPr>
              <a:t>WHO</a:t>
            </a:r>
            <a:endParaRPr lang="en-US" sz="1000" dirty="0"/>
          </a:p>
        </p:txBody>
      </p:sp>
      <p:sp>
        <p:nvSpPr>
          <p:cNvPr id="12" name="Text 9"/>
          <p:cNvSpPr/>
          <p:nvPr/>
        </p:nvSpPr>
        <p:spPr>
          <a:xfrm>
            <a:off x="1234440" y="2825496"/>
            <a:ext cx="2971800" cy="548640"/>
          </a:xfrm>
          <a:prstGeom prst="rect">
            <a:avLst/>
          </a:prstGeom>
          <a:noFill/>
          <a:ln/>
        </p:spPr>
        <p:txBody>
          <a:bodyPr wrap="square" lIns="0" tIns="0" rIns="0" bIns="0" rtlCol="0" anchor="t"/>
          <a:lstStyle/>
          <a:p>
            <a:pPr indent="0" marL="0">
              <a:buNone/>
            </a:pPr>
            <a:r>
              <a:rPr lang="en-US" sz="1250" dirty="0">
                <a:solidFill>
                  <a:srgbClr val="2B1D0E"/>
                </a:solidFill>
                <a:latin typeface="Segoe UI" pitchFamily="34" charset="0"/>
                <a:ea typeface="Segoe UI" pitchFamily="34" charset="-122"/>
                <a:cs typeface="Segoe UI" pitchFamily="34" charset="-120"/>
              </a:rPr>
              <a:t>Students aged 20 to 24, plus one working adult</a:t>
            </a:r>
            <a:endParaRPr lang="en-US" sz="1250" dirty="0"/>
          </a:p>
        </p:txBody>
      </p:sp>
      <p:sp>
        <p:nvSpPr>
          <p:cNvPr id="13" name="Text 10"/>
          <p:cNvSpPr/>
          <p:nvPr/>
        </p:nvSpPr>
        <p:spPr>
          <a:xfrm>
            <a:off x="502920" y="3456432"/>
            <a:ext cx="731520" cy="457200"/>
          </a:xfrm>
          <a:prstGeom prst="rect">
            <a:avLst/>
          </a:prstGeom>
          <a:noFill/>
          <a:ln/>
        </p:spPr>
        <p:txBody>
          <a:bodyPr wrap="square" lIns="0" tIns="0" rIns="0" bIns="0" rtlCol="0" anchor="t"/>
          <a:lstStyle/>
          <a:p>
            <a:pPr indent="0" marL="0">
              <a:buNone/>
            </a:pPr>
            <a:r>
              <a:rPr lang="en-US" sz="1000" b="1" spc="150" kern="0" dirty="0">
                <a:solidFill>
                  <a:srgbClr val="F26B1D"/>
                </a:solidFill>
                <a:latin typeface="Segoe UI" pitchFamily="34" charset="0"/>
                <a:ea typeface="Segoe UI" pitchFamily="34" charset="-122"/>
                <a:cs typeface="Segoe UI" pitchFamily="34" charset="-120"/>
              </a:rPr>
              <a:t>WHERE</a:t>
            </a:r>
            <a:endParaRPr lang="en-US" sz="1000" dirty="0"/>
          </a:p>
        </p:txBody>
      </p:sp>
      <p:sp>
        <p:nvSpPr>
          <p:cNvPr id="14" name="Text 11"/>
          <p:cNvSpPr/>
          <p:nvPr/>
        </p:nvSpPr>
        <p:spPr>
          <a:xfrm>
            <a:off x="1234440" y="3429000"/>
            <a:ext cx="2971800" cy="548640"/>
          </a:xfrm>
          <a:prstGeom prst="rect">
            <a:avLst/>
          </a:prstGeom>
          <a:noFill/>
          <a:ln/>
        </p:spPr>
        <p:txBody>
          <a:bodyPr wrap="square" lIns="0" tIns="0" rIns="0" bIns="0" rtlCol="0" anchor="t"/>
          <a:lstStyle/>
          <a:p>
            <a:pPr indent="0" marL="0">
              <a:buNone/>
            </a:pPr>
            <a:r>
              <a:rPr lang="en-US" sz="1250" dirty="0">
                <a:solidFill>
                  <a:srgbClr val="2B1D0E"/>
                </a:solidFill>
                <a:latin typeface="Segoe UI" pitchFamily="34" charset="0"/>
                <a:ea typeface="Segoe UI" pitchFamily="34" charset="-122"/>
                <a:cs typeface="Segoe UI" pitchFamily="34" charset="-120"/>
              </a:rPr>
              <a:t>Angeles City and Pampanga</a:t>
            </a:r>
            <a:endParaRPr lang="en-US" sz="1250" dirty="0"/>
          </a:p>
        </p:txBody>
      </p:sp>
      <p:sp>
        <p:nvSpPr>
          <p:cNvPr id="15" name="Text 12"/>
          <p:cNvSpPr/>
          <p:nvPr/>
        </p:nvSpPr>
        <p:spPr>
          <a:xfrm>
            <a:off x="502920" y="4059936"/>
            <a:ext cx="731520" cy="457200"/>
          </a:xfrm>
          <a:prstGeom prst="rect">
            <a:avLst/>
          </a:prstGeom>
          <a:noFill/>
          <a:ln/>
        </p:spPr>
        <p:txBody>
          <a:bodyPr wrap="square" lIns="0" tIns="0" rIns="0" bIns="0" rtlCol="0" anchor="t"/>
          <a:lstStyle/>
          <a:p>
            <a:pPr indent="0" marL="0">
              <a:buNone/>
            </a:pPr>
            <a:r>
              <a:rPr lang="en-US" sz="1000" b="1" spc="150" kern="0" dirty="0">
                <a:solidFill>
                  <a:srgbClr val="F26B1D"/>
                </a:solidFill>
                <a:latin typeface="Segoe UI" pitchFamily="34" charset="0"/>
                <a:ea typeface="Segoe UI" pitchFamily="34" charset="-122"/>
                <a:cs typeface="Segoe UI" pitchFamily="34" charset="-120"/>
              </a:rPr>
              <a:t>HOW</a:t>
            </a:r>
            <a:endParaRPr lang="en-US" sz="1000" dirty="0"/>
          </a:p>
        </p:txBody>
      </p:sp>
      <p:sp>
        <p:nvSpPr>
          <p:cNvPr id="16" name="Text 13"/>
          <p:cNvSpPr/>
          <p:nvPr/>
        </p:nvSpPr>
        <p:spPr>
          <a:xfrm>
            <a:off x="1234440" y="4032504"/>
            <a:ext cx="2971800" cy="548640"/>
          </a:xfrm>
          <a:prstGeom prst="rect">
            <a:avLst/>
          </a:prstGeom>
          <a:noFill/>
          <a:ln/>
        </p:spPr>
        <p:txBody>
          <a:bodyPr wrap="square" lIns="0" tIns="0" rIns="0" bIns="0" rtlCol="0" anchor="t"/>
          <a:lstStyle/>
          <a:p>
            <a:pPr indent="0" marL="0">
              <a:buNone/>
            </a:pPr>
            <a:r>
              <a:rPr lang="en-US" sz="1250" dirty="0">
                <a:solidFill>
                  <a:srgbClr val="2B1D0E"/>
                </a:solidFill>
                <a:latin typeface="Segoe UI" pitchFamily="34" charset="0"/>
                <a:ea typeface="Segoe UI" pitchFamily="34" charset="-122"/>
                <a:cs typeface="Segoe UI" pitchFamily="34" charset="-120"/>
              </a:rPr>
              <a:t>8 questions about going out, then a walkthrough of the Keni prototype</a:t>
            </a:r>
            <a:endParaRPr lang="en-US" sz="1250" dirty="0"/>
          </a:p>
        </p:txBody>
      </p:sp>
      <p:sp>
        <p:nvSpPr>
          <p:cNvPr id="17" name="Text 14"/>
          <p:cNvSpPr/>
          <p:nvPr/>
        </p:nvSpPr>
        <p:spPr>
          <a:xfrm>
            <a:off x="4572000" y="1188720"/>
            <a:ext cx="4023360" cy="256032"/>
          </a:xfrm>
          <a:prstGeom prst="rect">
            <a:avLst/>
          </a:prstGeom>
          <a:noFill/>
          <a:ln/>
        </p:spPr>
        <p:txBody>
          <a:bodyPr wrap="square" lIns="0" tIns="0" rIns="0" bIns="0" rtlCol="0" anchor="t"/>
          <a:lstStyle/>
          <a:p>
            <a:pPr indent="0" marL="0">
              <a:buNone/>
            </a:pPr>
            <a:r>
              <a:rPr lang="en-US" sz="1100" b="1" dirty="0">
                <a:solidFill>
                  <a:srgbClr val="7A6650"/>
                </a:solidFill>
                <a:latin typeface="Segoe UI" pitchFamily="34" charset="0"/>
                <a:ea typeface="Segoe UI" pitchFamily="34" charset="-122"/>
                <a:cs typeface="Segoe UI" pitchFamily="34" charset="-120"/>
              </a:rPr>
              <a:t>From the sessions</a:t>
            </a:r>
            <a:endParaRPr lang="en-US" sz="1100" dirty="0"/>
          </a:p>
        </p:txBody>
      </p:sp>
      <p:sp>
        <p:nvSpPr>
          <p:cNvPr id="18" name="Shape 15"/>
          <p:cNvSpPr/>
          <p:nvPr/>
        </p:nvSpPr>
        <p:spPr>
          <a:xfrm>
            <a:off x="4572000" y="1508760"/>
            <a:ext cx="2514600" cy="3063240"/>
          </a:xfrm>
          <a:prstGeom prst="roundRect">
            <a:avLst>
              <a:gd name="adj" fmla="val 2909"/>
            </a:avLst>
          </a:prstGeom>
          <a:solidFill>
            <a:srgbClr val="FFFFFF"/>
          </a:solidFill>
          <a:ln w="15875">
            <a:solidFill>
              <a:srgbClr val="F26B1D"/>
            </a:solidFill>
            <a:prstDash val="dash"/>
          </a:ln>
        </p:spPr>
      </p:sp>
      <p:sp>
        <p:nvSpPr>
          <p:cNvPr id="19" name="Text 16"/>
          <p:cNvSpPr/>
          <p:nvPr/>
        </p:nvSpPr>
        <p:spPr>
          <a:xfrm>
            <a:off x="4572000" y="1508760"/>
            <a:ext cx="2514600" cy="3063240"/>
          </a:xfrm>
          <a:prstGeom prst="rect">
            <a:avLst/>
          </a:prstGeom>
          <a:noFill/>
          <a:ln/>
        </p:spPr>
        <p:txBody>
          <a:bodyPr wrap="square" lIns="0" tIns="0" rIns="0" bIns="0" rtlCol="0" anchor="ctr"/>
          <a:lstStyle/>
          <a:p>
            <a:pPr algn="ctr" indent="0" marL="0">
              <a:buNone/>
            </a:pPr>
            <a:r>
              <a:rPr lang="en-US" sz="1050" i="1" dirty="0">
                <a:solidFill>
                  <a:srgbClr val="7A6650"/>
                </a:solidFill>
                <a:latin typeface="Segoe UI" pitchFamily="34" charset="0"/>
                <a:ea typeface="Segoe UI" pitchFamily="34" charset="-122"/>
                <a:cs typeface="Segoe UI" pitchFamily="34" charset="-120"/>
              </a:rPr>
              <a:t>Add interview photo</a:t>
            </a:r>
            <a:endParaRPr lang="en-US" sz="1050" dirty="0"/>
          </a:p>
        </p:txBody>
      </p:sp>
      <p:sp>
        <p:nvSpPr>
          <p:cNvPr id="20" name="Shape 17"/>
          <p:cNvSpPr/>
          <p:nvPr/>
        </p:nvSpPr>
        <p:spPr>
          <a:xfrm>
            <a:off x="7223760" y="1508760"/>
            <a:ext cx="1417320" cy="1463040"/>
          </a:xfrm>
          <a:prstGeom prst="roundRect">
            <a:avLst>
              <a:gd name="adj" fmla="val 5161"/>
            </a:avLst>
          </a:prstGeom>
          <a:solidFill>
            <a:srgbClr val="FFFFFF"/>
          </a:solidFill>
          <a:ln w="15875">
            <a:solidFill>
              <a:srgbClr val="F26B1D"/>
            </a:solidFill>
            <a:prstDash val="dash"/>
          </a:ln>
        </p:spPr>
      </p:sp>
      <p:sp>
        <p:nvSpPr>
          <p:cNvPr id="21" name="Text 18"/>
          <p:cNvSpPr/>
          <p:nvPr/>
        </p:nvSpPr>
        <p:spPr>
          <a:xfrm>
            <a:off x="7223760" y="1508760"/>
            <a:ext cx="1417320" cy="1463040"/>
          </a:xfrm>
          <a:prstGeom prst="rect">
            <a:avLst/>
          </a:prstGeom>
          <a:noFill/>
          <a:ln/>
        </p:spPr>
        <p:txBody>
          <a:bodyPr wrap="square" lIns="0" tIns="0" rIns="0" bIns="0" rtlCol="0" anchor="ctr"/>
          <a:lstStyle/>
          <a:p>
            <a:pPr algn="ctr" indent="0" marL="0">
              <a:buNone/>
            </a:pPr>
            <a:r>
              <a:rPr lang="en-US" sz="1050" i="1" dirty="0">
                <a:solidFill>
                  <a:srgbClr val="7A6650"/>
                </a:solidFill>
                <a:latin typeface="Segoe UI" pitchFamily="34" charset="0"/>
                <a:ea typeface="Segoe UI" pitchFamily="34" charset="-122"/>
                <a:cs typeface="Segoe UI" pitchFamily="34" charset="-120"/>
              </a:rPr>
              <a:t>Add interview photo</a:t>
            </a:r>
            <a:endParaRPr lang="en-US" sz="1050" dirty="0"/>
          </a:p>
        </p:txBody>
      </p:sp>
      <p:sp>
        <p:nvSpPr>
          <p:cNvPr id="22" name="Shape 19"/>
          <p:cNvSpPr/>
          <p:nvPr/>
        </p:nvSpPr>
        <p:spPr>
          <a:xfrm>
            <a:off x="7223760" y="3108960"/>
            <a:ext cx="1417320" cy="1463040"/>
          </a:xfrm>
          <a:prstGeom prst="roundRect">
            <a:avLst>
              <a:gd name="adj" fmla="val 5161"/>
            </a:avLst>
          </a:prstGeom>
          <a:solidFill>
            <a:srgbClr val="FFFFFF"/>
          </a:solidFill>
          <a:ln w="15875">
            <a:solidFill>
              <a:srgbClr val="F26B1D"/>
            </a:solidFill>
            <a:prstDash val="dash"/>
          </a:ln>
        </p:spPr>
      </p:sp>
      <p:sp>
        <p:nvSpPr>
          <p:cNvPr id="23" name="Text 20"/>
          <p:cNvSpPr/>
          <p:nvPr/>
        </p:nvSpPr>
        <p:spPr>
          <a:xfrm>
            <a:off x="7223760" y="3108960"/>
            <a:ext cx="1417320" cy="1463040"/>
          </a:xfrm>
          <a:prstGeom prst="rect">
            <a:avLst/>
          </a:prstGeom>
          <a:noFill/>
          <a:ln/>
        </p:spPr>
        <p:txBody>
          <a:bodyPr wrap="square" lIns="0" tIns="0" rIns="0" bIns="0" rtlCol="0" anchor="ctr"/>
          <a:lstStyle/>
          <a:p>
            <a:pPr algn="ctr" indent="0" marL="0">
              <a:buNone/>
            </a:pPr>
            <a:r>
              <a:rPr lang="en-US" sz="1050" i="1" dirty="0">
                <a:solidFill>
                  <a:srgbClr val="7A6650"/>
                </a:solidFill>
                <a:latin typeface="Segoe UI" pitchFamily="34" charset="0"/>
                <a:ea typeface="Segoe UI" pitchFamily="34" charset="-122"/>
                <a:cs typeface="Segoe UI" pitchFamily="34" charset="-120"/>
              </a:rPr>
              <a:t>Add interview photo</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6E5"/>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26B1D"/>
          </a:solidFill>
          <a:ln w="12700">
            <a:solidFill>
              <a:srgbClr val="F26B1D"/>
            </a:solidFill>
            <a:prstDash val="solid"/>
          </a:ln>
        </p:spPr>
      </p:sp>
      <p:sp>
        <p:nvSpPr>
          <p:cNvPr id="3" name="Text 1"/>
          <p:cNvSpPr/>
          <p:nvPr/>
        </p:nvSpPr>
        <p:spPr>
          <a:xfrm>
            <a:off x="502920" y="219456"/>
            <a:ext cx="8138160" cy="237744"/>
          </a:xfrm>
          <a:prstGeom prst="rect">
            <a:avLst/>
          </a:prstGeom>
          <a:noFill/>
          <a:ln/>
        </p:spPr>
        <p:txBody>
          <a:bodyPr wrap="square" lIns="0" tIns="0" rIns="0" bIns="0" rtlCol="0" anchor="ctr"/>
          <a:lstStyle/>
          <a:p>
            <a:pPr indent="0" marL="0">
              <a:buNone/>
            </a:pPr>
            <a:r>
              <a:rPr lang="en-US" sz="1050" b="1" spc="200" kern="0" dirty="0">
                <a:solidFill>
                  <a:srgbClr val="F26B1D"/>
                </a:solidFill>
                <a:latin typeface="Segoe UI" pitchFamily="34" charset="0"/>
                <a:ea typeface="Segoe UI" pitchFamily="34" charset="-122"/>
                <a:cs typeface="Segoe UI" pitchFamily="34" charset="-120"/>
              </a:rPr>
              <a:t>VALIDATION BOARD</a:t>
            </a:r>
            <a:endParaRPr lang="en-US" sz="1050" dirty="0"/>
          </a:p>
        </p:txBody>
      </p:sp>
      <p:sp>
        <p:nvSpPr>
          <p:cNvPr id="4" name="Text 2"/>
          <p:cNvSpPr/>
          <p:nvPr/>
        </p:nvSpPr>
        <p:spPr>
          <a:xfrm>
            <a:off x="502920" y="457200"/>
            <a:ext cx="8138160" cy="685800"/>
          </a:xfrm>
          <a:prstGeom prst="rect">
            <a:avLst/>
          </a:prstGeom>
          <a:noFill/>
          <a:ln/>
        </p:spPr>
        <p:txBody>
          <a:bodyPr wrap="square" lIns="0" tIns="0" rIns="0" bIns="0" rtlCol="0" anchor="t">
            <a:normAutofit/>
          </a:bodyPr>
          <a:lstStyle/>
          <a:p>
            <a:pPr indent="0" marL="0">
              <a:buNone/>
            </a:pPr>
            <a:r>
              <a:rPr lang="en-US" sz="2000" b="1" dirty="0">
                <a:solidFill>
                  <a:srgbClr val="2B1D0E"/>
                </a:solidFill>
                <a:latin typeface="Segoe UI" pitchFamily="34" charset="0"/>
                <a:ea typeface="Segoe UI" pitchFamily="34" charset="-122"/>
                <a:cs typeface="Segoe UI" pitchFamily="34" charset="-120"/>
              </a:rPr>
              <a:t>Our simplified validation board</a:t>
            </a:r>
            <a:endParaRPr lang="en-US" sz="2000" dirty="0"/>
          </a:p>
        </p:txBody>
      </p:sp>
      <p:sp>
        <p:nvSpPr>
          <p:cNvPr id="5" name="Text 3"/>
          <p:cNvSpPr/>
          <p:nvPr/>
        </p:nvSpPr>
        <p:spPr>
          <a:xfrm>
            <a:off x="502920" y="4791456"/>
            <a:ext cx="4572000" cy="219456"/>
          </a:xfrm>
          <a:prstGeom prst="rect">
            <a:avLst/>
          </a:prstGeom>
          <a:noFill/>
          <a:ln/>
        </p:spPr>
        <p:txBody>
          <a:bodyPr wrap="square" lIns="0" tIns="0" rIns="0" bIns="0" rtlCol="0" anchor="ctr"/>
          <a:lstStyle/>
          <a:p>
            <a:pPr indent="0" marL="0">
              <a:buNone/>
            </a:pPr>
            <a:r>
              <a:rPr lang="en-US" sz="900" dirty="0">
                <a:solidFill>
                  <a:srgbClr val="7A6650"/>
                </a:solidFill>
                <a:latin typeface="Segoe UI" pitchFamily="34" charset="0"/>
                <a:ea typeface="Segoe UI" pitchFamily="34" charset="-122"/>
                <a:cs typeface="Segoe UI" pitchFamily="34" charset="-120"/>
              </a:rPr>
              <a:t>Keni · Validation results</a:t>
            </a:r>
            <a:endParaRPr lang="en-US" sz="900" dirty="0"/>
          </a:p>
        </p:txBody>
      </p:sp>
      <p:sp>
        <p:nvSpPr>
          <p:cNvPr id="6" name="Text 4"/>
          <p:cNvSpPr/>
          <p:nvPr/>
        </p:nvSpPr>
        <p:spPr>
          <a:xfrm>
            <a:off x="7726680" y="4791456"/>
            <a:ext cx="914400" cy="219456"/>
          </a:xfrm>
          <a:prstGeom prst="rect">
            <a:avLst/>
          </a:prstGeom>
          <a:noFill/>
          <a:ln/>
        </p:spPr>
        <p:txBody>
          <a:bodyPr wrap="square" lIns="0" tIns="0" rIns="0" bIns="0" rtlCol="0" anchor="ctr"/>
          <a:lstStyle/>
          <a:p>
            <a:pPr algn="r" indent="0" marL="0">
              <a:buNone/>
            </a:pPr>
            <a:r>
              <a:rPr lang="en-US" sz="900" dirty="0">
                <a:solidFill>
                  <a:srgbClr val="7A6650"/>
                </a:solidFill>
                <a:latin typeface="Segoe UI" pitchFamily="34" charset="0"/>
                <a:ea typeface="Segoe UI" pitchFamily="34" charset="-122"/>
                <a:cs typeface="Segoe UI" pitchFamily="34" charset="-120"/>
              </a:rPr>
              <a:t>2 / 7</a:t>
            </a:r>
            <a:endParaRPr lang="en-US" sz="9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02920" y="1188720"/>
          <a:ext cx="8138160" cy="914400"/>
        </p:xfrm>
        <a:graphic>
          <a:graphicData uri="http://schemas.openxmlformats.org/drawingml/2006/table">
            <a:tbl>
              <a:tblPr/>
              <a:tblGrid>
                <a:gridCol w="2011680"/>
                <a:gridCol w="6126480"/>
              </a:tblGrid>
              <a:tr h="484632">
                <a:tc>
                  <a:txBody>
                    <a:bodyPr/>
                    <a:lstStyle/>
                    <a:p>
                      <a:pPr indent="0" marL="0">
                        <a:buNone/>
                      </a:pPr>
                      <a:r>
                        <a:rPr lang="en-US" sz="1200" b="1" dirty="0">
                          <a:solidFill>
                            <a:srgbClr val="FFFFFF"/>
                          </a:solidFill>
                          <a:latin typeface="Segoe UI" pitchFamily="34" charset="0"/>
                          <a:ea typeface="Segoe UI" pitchFamily="34" charset="-122"/>
                          <a:cs typeface="Segoe UI" pitchFamily="34" charset="-120"/>
                        </a:rPr>
                        <a:t>Customer Segment</a:t>
                      </a:r>
                      <a:endParaRPr lang="en-US" sz="1200" dirty="0">
                        <a:latin typeface="Segoe UI" charset="0"/>
                        <a:ea typeface="Segoe UI" charset="0"/>
                        <a:cs typeface="Segoe UI" charset="0"/>
                      </a:endParaRPr>
                    </a:p>
                  </a:txBody>
                  <a:tcPr marL="128016" marR="128016" marT="36576" marB="36576" anchor="ctr">
                    <a:lnL w="25400" cap="flat" cmpd="sng" algn="ctr">
                      <a:solidFill>
                        <a:srgbClr val="FFF6E5"/>
                      </a:solidFill>
                      <a:prstDash val="solid"/>
                      <a:round/>
                      <a:headEnd type="none" w="med" len="med"/>
                      <a:tailEnd type="none" w="med" len="med"/>
                    </a:lnL>
                    <a:lnR w="25400" cap="flat" cmpd="sng" algn="ctr">
                      <a:solidFill>
                        <a:srgbClr val="FFF6E5"/>
                      </a:solidFill>
                      <a:prstDash val="solid"/>
                      <a:round/>
                      <a:headEnd type="none" w="med" len="med"/>
                      <a:tailEnd type="none" w="med" len="med"/>
                    </a:lnR>
                    <a:lnT w="25400" cap="flat" cmpd="sng" algn="ctr">
                      <a:solidFill>
                        <a:srgbClr val="FFF6E5"/>
                      </a:solidFill>
                      <a:prstDash val="solid"/>
                      <a:round/>
                      <a:headEnd type="none" w="med" len="med"/>
                      <a:tailEnd type="none" w="med" len="med"/>
                    </a:lnT>
                    <a:lnB w="25400" cap="flat" cmpd="sng" algn="ctr">
                      <a:solidFill>
                        <a:srgbClr val="FFF6E5"/>
                      </a:solidFill>
                      <a:prstDash val="solid"/>
                      <a:round/>
                      <a:headEnd type="none" w="med" len="med"/>
                      <a:tailEnd type="none" w="med" len="med"/>
                    </a:lnB>
                    <a:solidFill>
                      <a:srgbClr val="F26B1D"/>
                    </a:solidFill>
                  </a:tcPr>
                </a:tc>
                <a:tc>
                  <a:txBody>
                    <a:bodyPr/>
                    <a:lstStyle/>
                    <a:p>
                      <a:pPr indent="0" marL="0">
                        <a:buNone/>
                      </a:pPr>
                      <a:r>
                        <a:rPr lang="en-US" sz="1200" dirty="0">
                          <a:solidFill>
                            <a:srgbClr val="2B1D0E"/>
                          </a:solidFill>
                          <a:latin typeface="Segoe UI" pitchFamily="34" charset="0"/>
                          <a:ea typeface="Segoe UI" pitchFamily="34" charset="-122"/>
                          <a:cs typeface="Segoe UI" pitchFamily="34" charset="-120"/>
                        </a:rPr>
                        <a:t>Students and young adults, mostly 20 to 24, who hang out in Angeles and Pampanga</a:t>
                      </a:r>
                      <a:endParaRPr lang="en-US" sz="1200" dirty="0">
                        <a:latin typeface="Segoe UI" charset="0"/>
                        <a:ea typeface="Segoe UI" charset="0"/>
                        <a:cs typeface="Segoe UI" charset="0"/>
                      </a:endParaRPr>
                    </a:p>
                  </a:txBody>
                  <a:tcPr marL="128016" marR="128016" marT="36576" marB="36576" anchor="ctr">
                    <a:lnL w="25400" cap="flat" cmpd="sng" algn="ctr">
                      <a:solidFill>
                        <a:srgbClr val="FFF6E5"/>
                      </a:solidFill>
                      <a:prstDash val="solid"/>
                      <a:round/>
                      <a:headEnd type="none" w="med" len="med"/>
                      <a:tailEnd type="none" w="med" len="med"/>
                    </a:lnL>
                    <a:lnR w="25400" cap="flat" cmpd="sng" algn="ctr">
                      <a:solidFill>
                        <a:srgbClr val="FFF6E5"/>
                      </a:solidFill>
                      <a:prstDash val="solid"/>
                      <a:round/>
                      <a:headEnd type="none" w="med" len="med"/>
                      <a:tailEnd type="none" w="med" len="med"/>
                    </a:lnR>
                    <a:lnT w="25400" cap="flat" cmpd="sng" algn="ctr">
                      <a:solidFill>
                        <a:srgbClr val="FFF6E5"/>
                      </a:solidFill>
                      <a:prstDash val="solid"/>
                      <a:round/>
                      <a:headEnd type="none" w="med" len="med"/>
                      <a:tailEnd type="none" w="med" len="med"/>
                    </a:lnT>
                    <a:lnB w="25400" cap="flat" cmpd="sng" algn="ctr">
                      <a:solidFill>
                        <a:srgbClr val="FFF6E5"/>
                      </a:solidFill>
                      <a:prstDash val="solid"/>
                      <a:round/>
                      <a:headEnd type="none" w="med" len="med"/>
                      <a:tailEnd type="none" w="med" len="med"/>
                    </a:lnB>
                    <a:solidFill>
                      <a:srgbClr val="FFFFFF"/>
                    </a:solidFill>
                  </a:tcPr>
                </a:tc>
              </a:tr>
              <a:tr h="484632">
                <a:tc>
                  <a:txBody>
                    <a:bodyPr/>
                    <a:lstStyle/>
                    <a:p>
                      <a:pPr indent="0" marL="0">
                        <a:buNone/>
                      </a:pPr>
                      <a:r>
                        <a:rPr lang="en-US" sz="1200" b="1" dirty="0">
                          <a:solidFill>
                            <a:srgbClr val="FFFFFF"/>
                          </a:solidFill>
                          <a:latin typeface="Segoe UI" pitchFamily="34" charset="0"/>
                          <a:ea typeface="Segoe UI" pitchFamily="34" charset="-122"/>
                          <a:cs typeface="Segoe UI" pitchFamily="34" charset="-120"/>
                        </a:rPr>
                        <a:t>Problem</a:t>
                      </a:r>
                      <a:endParaRPr lang="en-US" sz="1200" dirty="0">
                        <a:latin typeface="Segoe UI" charset="0"/>
                        <a:ea typeface="Segoe UI" charset="0"/>
                        <a:cs typeface="Segoe UI" charset="0"/>
                      </a:endParaRPr>
                    </a:p>
                  </a:txBody>
                  <a:tcPr marL="128016" marR="128016" marT="36576" marB="36576" anchor="ctr">
                    <a:lnL w="25400" cap="flat" cmpd="sng" algn="ctr">
                      <a:solidFill>
                        <a:srgbClr val="FFF6E5"/>
                      </a:solidFill>
                      <a:prstDash val="solid"/>
                      <a:round/>
                      <a:headEnd type="none" w="med" len="med"/>
                      <a:tailEnd type="none" w="med" len="med"/>
                    </a:lnL>
                    <a:lnR w="25400" cap="flat" cmpd="sng" algn="ctr">
                      <a:solidFill>
                        <a:srgbClr val="FFF6E5"/>
                      </a:solidFill>
                      <a:prstDash val="solid"/>
                      <a:round/>
                      <a:headEnd type="none" w="med" len="med"/>
                      <a:tailEnd type="none" w="med" len="med"/>
                    </a:lnR>
                    <a:lnT w="25400" cap="flat" cmpd="sng" algn="ctr">
                      <a:solidFill>
                        <a:srgbClr val="FFF6E5"/>
                      </a:solidFill>
                      <a:prstDash val="solid"/>
                      <a:round/>
                      <a:headEnd type="none" w="med" len="med"/>
                      <a:tailEnd type="none" w="med" len="med"/>
                    </a:lnT>
                    <a:lnB w="25400" cap="flat" cmpd="sng" algn="ctr">
                      <a:solidFill>
                        <a:srgbClr val="FFF6E5"/>
                      </a:solidFill>
                      <a:prstDash val="solid"/>
                      <a:round/>
                      <a:headEnd type="none" w="med" len="med"/>
                      <a:tailEnd type="none" w="med" len="med"/>
                    </a:lnB>
                    <a:solidFill>
                      <a:srgbClr val="F26B1D"/>
                    </a:solidFill>
                  </a:tcPr>
                </a:tc>
                <a:tc>
                  <a:txBody>
                    <a:bodyPr/>
                    <a:lstStyle/>
                    <a:p>
                      <a:pPr indent="0" marL="0">
                        <a:buNone/>
                      </a:pPr>
                      <a:r>
                        <a:rPr lang="en-US" sz="1200" dirty="0">
                          <a:solidFill>
                            <a:srgbClr val="2B1D0E"/>
                          </a:solidFill>
                          <a:latin typeface="Segoe UI" pitchFamily="34" charset="0"/>
                          <a:ea typeface="Segoe UI" pitchFamily="34" charset="-122"/>
                          <a:cs typeface="Segoe UI" pitchFamily="34" charset="-120"/>
                        </a:rPr>
                        <a:t>No single place to find out what’s open, affordable and worth visiting, and group decisions are slow</a:t>
                      </a:r>
                      <a:endParaRPr lang="en-US" sz="1200" dirty="0">
                        <a:latin typeface="Segoe UI" charset="0"/>
                        <a:ea typeface="Segoe UI" charset="0"/>
                        <a:cs typeface="Segoe UI" charset="0"/>
                      </a:endParaRPr>
                    </a:p>
                  </a:txBody>
                  <a:tcPr marL="128016" marR="128016" marT="36576" marB="36576" anchor="ctr">
                    <a:lnL w="25400" cap="flat" cmpd="sng" algn="ctr">
                      <a:solidFill>
                        <a:srgbClr val="FFF6E5"/>
                      </a:solidFill>
                      <a:prstDash val="solid"/>
                      <a:round/>
                      <a:headEnd type="none" w="med" len="med"/>
                      <a:tailEnd type="none" w="med" len="med"/>
                    </a:lnL>
                    <a:lnR w="25400" cap="flat" cmpd="sng" algn="ctr">
                      <a:solidFill>
                        <a:srgbClr val="FFF6E5"/>
                      </a:solidFill>
                      <a:prstDash val="solid"/>
                      <a:round/>
                      <a:headEnd type="none" w="med" len="med"/>
                      <a:tailEnd type="none" w="med" len="med"/>
                    </a:lnR>
                    <a:lnT w="25400" cap="flat" cmpd="sng" algn="ctr">
                      <a:solidFill>
                        <a:srgbClr val="FFF6E5"/>
                      </a:solidFill>
                      <a:prstDash val="solid"/>
                      <a:round/>
                      <a:headEnd type="none" w="med" len="med"/>
                      <a:tailEnd type="none" w="med" len="med"/>
                    </a:lnT>
                    <a:lnB w="25400" cap="flat" cmpd="sng" algn="ctr">
                      <a:solidFill>
                        <a:srgbClr val="FFF6E5"/>
                      </a:solidFill>
                      <a:prstDash val="solid"/>
                      <a:round/>
                      <a:headEnd type="none" w="med" len="med"/>
                      <a:tailEnd type="none" w="med" len="med"/>
                    </a:lnB>
                    <a:solidFill>
                      <a:srgbClr val="FFFFFF"/>
                    </a:solidFill>
                  </a:tcPr>
                </a:tc>
              </a:tr>
              <a:tr h="484632">
                <a:tc>
                  <a:txBody>
                    <a:bodyPr/>
                    <a:lstStyle/>
                    <a:p>
                      <a:pPr indent="0" marL="0">
                        <a:buNone/>
                      </a:pPr>
                      <a:r>
                        <a:rPr lang="en-US" sz="1200" b="1" dirty="0">
                          <a:solidFill>
                            <a:srgbClr val="FFFFFF"/>
                          </a:solidFill>
                          <a:latin typeface="Segoe UI" pitchFamily="34" charset="0"/>
                          <a:ea typeface="Segoe UI" pitchFamily="34" charset="-122"/>
                          <a:cs typeface="Segoe UI" pitchFamily="34" charset="-120"/>
                        </a:rPr>
                        <a:t>Solution</a:t>
                      </a:r>
                      <a:endParaRPr lang="en-US" sz="1200" dirty="0">
                        <a:latin typeface="Segoe UI" charset="0"/>
                        <a:ea typeface="Segoe UI" charset="0"/>
                        <a:cs typeface="Segoe UI" charset="0"/>
                      </a:endParaRPr>
                    </a:p>
                  </a:txBody>
                  <a:tcPr marL="128016" marR="128016" marT="36576" marB="36576" anchor="ctr">
                    <a:lnL w="25400" cap="flat" cmpd="sng" algn="ctr">
                      <a:solidFill>
                        <a:srgbClr val="FFF6E5"/>
                      </a:solidFill>
                      <a:prstDash val="solid"/>
                      <a:round/>
                      <a:headEnd type="none" w="med" len="med"/>
                      <a:tailEnd type="none" w="med" len="med"/>
                    </a:lnL>
                    <a:lnR w="25400" cap="flat" cmpd="sng" algn="ctr">
                      <a:solidFill>
                        <a:srgbClr val="FFF6E5"/>
                      </a:solidFill>
                      <a:prstDash val="solid"/>
                      <a:round/>
                      <a:headEnd type="none" w="med" len="med"/>
                      <a:tailEnd type="none" w="med" len="med"/>
                    </a:lnR>
                    <a:lnT w="25400" cap="flat" cmpd="sng" algn="ctr">
                      <a:solidFill>
                        <a:srgbClr val="FFF6E5"/>
                      </a:solidFill>
                      <a:prstDash val="solid"/>
                      <a:round/>
                      <a:headEnd type="none" w="med" len="med"/>
                      <a:tailEnd type="none" w="med" len="med"/>
                    </a:lnT>
                    <a:lnB w="25400" cap="flat" cmpd="sng" algn="ctr">
                      <a:solidFill>
                        <a:srgbClr val="FFF6E5"/>
                      </a:solidFill>
                      <a:prstDash val="solid"/>
                      <a:round/>
                      <a:headEnd type="none" w="med" len="med"/>
                      <a:tailEnd type="none" w="med" len="med"/>
                    </a:lnB>
                    <a:solidFill>
                      <a:srgbClr val="F26B1D"/>
                    </a:solidFill>
                  </a:tcPr>
                </a:tc>
                <a:tc>
                  <a:txBody>
                    <a:bodyPr/>
                    <a:lstStyle/>
                    <a:p>
                      <a:pPr indent="0" marL="0">
                        <a:buNone/>
                      </a:pPr>
                      <a:r>
                        <a:rPr lang="en-US" sz="1200" dirty="0">
                          <a:solidFill>
                            <a:srgbClr val="2B1D0E"/>
                          </a:solidFill>
                          <a:latin typeface="Segoe UI" pitchFamily="34" charset="0"/>
                          <a:ea typeface="Segoe UI" pitchFamily="34" charset="-122"/>
                          <a:cs typeface="Segoe UI" pitchFamily="34" charset="-120"/>
                        </a:rPr>
                        <a:t>Keni: a map app for finding places and planning outings with your tropa</a:t>
                      </a:r>
                      <a:endParaRPr lang="en-US" sz="1200" dirty="0">
                        <a:latin typeface="Segoe UI" charset="0"/>
                        <a:ea typeface="Segoe UI" charset="0"/>
                        <a:cs typeface="Segoe UI" charset="0"/>
                      </a:endParaRPr>
                    </a:p>
                  </a:txBody>
                  <a:tcPr marL="128016" marR="128016" marT="36576" marB="36576" anchor="ctr">
                    <a:lnL w="25400" cap="flat" cmpd="sng" algn="ctr">
                      <a:solidFill>
                        <a:srgbClr val="FFF6E5"/>
                      </a:solidFill>
                      <a:prstDash val="solid"/>
                      <a:round/>
                      <a:headEnd type="none" w="med" len="med"/>
                      <a:tailEnd type="none" w="med" len="med"/>
                    </a:lnL>
                    <a:lnR w="25400" cap="flat" cmpd="sng" algn="ctr">
                      <a:solidFill>
                        <a:srgbClr val="FFF6E5"/>
                      </a:solidFill>
                      <a:prstDash val="solid"/>
                      <a:round/>
                      <a:headEnd type="none" w="med" len="med"/>
                      <a:tailEnd type="none" w="med" len="med"/>
                    </a:lnR>
                    <a:lnT w="25400" cap="flat" cmpd="sng" algn="ctr">
                      <a:solidFill>
                        <a:srgbClr val="FFF6E5"/>
                      </a:solidFill>
                      <a:prstDash val="solid"/>
                      <a:round/>
                      <a:headEnd type="none" w="med" len="med"/>
                      <a:tailEnd type="none" w="med" len="med"/>
                    </a:lnT>
                    <a:lnB w="25400" cap="flat" cmpd="sng" algn="ctr">
                      <a:solidFill>
                        <a:srgbClr val="FFF6E5"/>
                      </a:solidFill>
                      <a:prstDash val="solid"/>
                      <a:round/>
                      <a:headEnd type="none" w="med" len="med"/>
                      <a:tailEnd type="none" w="med" len="med"/>
                    </a:lnB>
                    <a:solidFill>
                      <a:srgbClr val="FFFFFF"/>
                    </a:solidFill>
                  </a:tcPr>
                </a:tc>
              </a:tr>
              <a:tr h="484632">
                <a:tc>
                  <a:txBody>
                    <a:bodyPr/>
                    <a:lstStyle/>
                    <a:p>
                      <a:pPr indent="0" marL="0">
                        <a:buNone/>
                      </a:pPr>
                      <a:r>
                        <a:rPr lang="en-US" sz="1200" b="1" dirty="0">
                          <a:solidFill>
                            <a:srgbClr val="FFFFFF"/>
                          </a:solidFill>
                          <a:latin typeface="Segoe UI" pitchFamily="34" charset="0"/>
                          <a:ea typeface="Segoe UI" pitchFamily="34" charset="-122"/>
                          <a:cs typeface="Segoe UI" pitchFamily="34" charset="-120"/>
                        </a:rPr>
                        <a:t>Experiment</a:t>
                      </a:r>
                      <a:endParaRPr lang="en-US" sz="1200" dirty="0">
                        <a:latin typeface="Segoe UI" charset="0"/>
                        <a:ea typeface="Segoe UI" charset="0"/>
                        <a:cs typeface="Segoe UI" charset="0"/>
                      </a:endParaRPr>
                    </a:p>
                  </a:txBody>
                  <a:tcPr marL="128016" marR="128016" marT="36576" marB="36576" anchor="ctr">
                    <a:lnL w="25400" cap="flat" cmpd="sng" algn="ctr">
                      <a:solidFill>
                        <a:srgbClr val="FFF6E5"/>
                      </a:solidFill>
                      <a:prstDash val="solid"/>
                      <a:round/>
                      <a:headEnd type="none" w="med" len="med"/>
                      <a:tailEnd type="none" w="med" len="med"/>
                    </a:lnL>
                    <a:lnR w="25400" cap="flat" cmpd="sng" algn="ctr">
                      <a:solidFill>
                        <a:srgbClr val="FFF6E5"/>
                      </a:solidFill>
                      <a:prstDash val="solid"/>
                      <a:round/>
                      <a:headEnd type="none" w="med" len="med"/>
                      <a:tailEnd type="none" w="med" len="med"/>
                    </a:lnR>
                    <a:lnT w="25400" cap="flat" cmpd="sng" algn="ctr">
                      <a:solidFill>
                        <a:srgbClr val="FFF6E5"/>
                      </a:solidFill>
                      <a:prstDash val="solid"/>
                      <a:round/>
                      <a:headEnd type="none" w="med" len="med"/>
                      <a:tailEnd type="none" w="med" len="med"/>
                    </a:lnT>
                    <a:lnB w="25400" cap="flat" cmpd="sng" algn="ctr">
                      <a:solidFill>
                        <a:srgbClr val="FFF6E5"/>
                      </a:solidFill>
                      <a:prstDash val="solid"/>
                      <a:round/>
                      <a:headEnd type="none" w="med" len="med"/>
                      <a:tailEnd type="none" w="med" len="med"/>
                    </a:lnB>
                    <a:solidFill>
                      <a:srgbClr val="F26B1D"/>
                    </a:solidFill>
                  </a:tcPr>
                </a:tc>
                <a:tc>
                  <a:txBody>
                    <a:bodyPr/>
                    <a:lstStyle/>
                    <a:p>
                      <a:pPr indent="0" marL="0">
                        <a:buNone/>
                      </a:pPr>
                      <a:r>
                        <a:rPr lang="en-US" sz="1200" dirty="0">
                          <a:solidFill>
                            <a:srgbClr val="2B1D0E"/>
                          </a:solidFill>
                          <a:latin typeface="Segoe UI" pitchFamily="34" charset="0"/>
                          <a:ea typeface="Segoe UI" pitchFamily="34" charset="-122"/>
                          <a:cs typeface="Segoe UI" pitchFamily="34" charset="-120"/>
                        </a:rPr>
                        <a:t>20 interviews, each with a walkthrough of the Keni prototype</a:t>
                      </a:r>
                      <a:endParaRPr lang="en-US" sz="1200" dirty="0">
                        <a:latin typeface="Segoe UI" charset="0"/>
                        <a:ea typeface="Segoe UI" charset="0"/>
                        <a:cs typeface="Segoe UI" charset="0"/>
                      </a:endParaRPr>
                    </a:p>
                  </a:txBody>
                  <a:tcPr marL="128016" marR="128016" marT="36576" marB="36576" anchor="ctr">
                    <a:lnL w="25400" cap="flat" cmpd="sng" algn="ctr">
                      <a:solidFill>
                        <a:srgbClr val="FFF6E5"/>
                      </a:solidFill>
                      <a:prstDash val="solid"/>
                      <a:round/>
                      <a:headEnd type="none" w="med" len="med"/>
                      <a:tailEnd type="none" w="med" len="med"/>
                    </a:lnL>
                    <a:lnR w="25400" cap="flat" cmpd="sng" algn="ctr">
                      <a:solidFill>
                        <a:srgbClr val="FFF6E5"/>
                      </a:solidFill>
                      <a:prstDash val="solid"/>
                      <a:round/>
                      <a:headEnd type="none" w="med" len="med"/>
                      <a:tailEnd type="none" w="med" len="med"/>
                    </a:lnR>
                    <a:lnT w="25400" cap="flat" cmpd="sng" algn="ctr">
                      <a:solidFill>
                        <a:srgbClr val="FFF6E5"/>
                      </a:solidFill>
                      <a:prstDash val="solid"/>
                      <a:round/>
                      <a:headEnd type="none" w="med" len="med"/>
                      <a:tailEnd type="none" w="med" len="med"/>
                    </a:lnT>
                    <a:lnB w="25400" cap="flat" cmpd="sng" algn="ctr">
                      <a:solidFill>
                        <a:srgbClr val="FFF6E5"/>
                      </a:solidFill>
                      <a:prstDash val="solid"/>
                      <a:round/>
                      <a:headEnd type="none" w="med" len="med"/>
                      <a:tailEnd type="none" w="med" len="med"/>
                    </a:lnB>
                    <a:solidFill>
                      <a:srgbClr val="FFFFFF"/>
                    </a:solidFill>
                  </a:tcPr>
                </a:tc>
              </a:tr>
              <a:tr h="484632">
                <a:tc>
                  <a:txBody>
                    <a:bodyPr/>
                    <a:lstStyle/>
                    <a:p>
                      <a:pPr indent="0" marL="0">
                        <a:buNone/>
                      </a:pPr>
                      <a:r>
                        <a:rPr lang="en-US" sz="1200" b="1" dirty="0">
                          <a:solidFill>
                            <a:srgbClr val="FFFFFF"/>
                          </a:solidFill>
                          <a:latin typeface="Segoe UI" pitchFamily="34" charset="0"/>
                          <a:ea typeface="Segoe UI" pitchFamily="34" charset="-122"/>
                          <a:cs typeface="Segoe UI" pitchFamily="34" charset="-120"/>
                        </a:rPr>
                        <a:t>Success Criteria</a:t>
                      </a:r>
                      <a:endParaRPr lang="en-US" sz="1200" dirty="0">
                        <a:latin typeface="Segoe UI" charset="0"/>
                        <a:ea typeface="Segoe UI" charset="0"/>
                        <a:cs typeface="Segoe UI" charset="0"/>
                      </a:endParaRPr>
                    </a:p>
                  </a:txBody>
                  <a:tcPr marL="128016" marR="128016" marT="36576" marB="36576" anchor="ctr">
                    <a:lnL w="25400" cap="flat" cmpd="sng" algn="ctr">
                      <a:solidFill>
                        <a:srgbClr val="FFF6E5"/>
                      </a:solidFill>
                      <a:prstDash val="solid"/>
                      <a:round/>
                      <a:headEnd type="none" w="med" len="med"/>
                      <a:tailEnd type="none" w="med" len="med"/>
                    </a:lnL>
                    <a:lnR w="25400" cap="flat" cmpd="sng" algn="ctr">
                      <a:solidFill>
                        <a:srgbClr val="FFF6E5"/>
                      </a:solidFill>
                      <a:prstDash val="solid"/>
                      <a:round/>
                      <a:headEnd type="none" w="med" len="med"/>
                      <a:tailEnd type="none" w="med" len="med"/>
                    </a:lnR>
                    <a:lnT w="25400" cap="flat" cmpd="sng" algn="ctr">
                      <a:solidFill>
                        <a:srgbClr val="FFF6E5"/>
                      </a:solidFill>
                      <a:prstDash val="solid"/>
                      <a:round/>
                      <a:headEnd type="none" w="med" len="med"/>
                      <a:tailEnd type="none" w="med" len="med"/>
                    </a:lnT>
                    <a:lnB w="25400" cap="flat" cmpd="sng" algn="ctr">
                      <a:solidFill>
                        <a:srgbClr val="FFF6E5"/>
                      </a:solidFill>
                      <a:prstDash val="solid"/>
                      <a:round/>
                      <a:headEnd type="none" w="med" len="med"/>
                      <a:tailEnd type="none" w="med" len="med"/>
                    </a:lnB>
                    <a:solidFill>
                      <a:srgbClr val="F26B1D"/>
                    </a:solidFill>
                  </a:tcPr>
                </a:tc>
                <a:tc>
                  <a:txBody>
                    <a:bodyPr/>
                    <a:lstStyle/>
                    <a:p>
                      <a:pPr indent="0" marL="0">
                        <a:buNone/>
                      </a:pPr>
                      <a:r>
                        <a:rPr lang="en-US" sz="1200" b="1" i="1" dirty="0">
                          <a:solidFill>
                            <a:srgbClr val="2B1D0E"/>
                          </a:solidFill>
                          <a:latin typeface="Segoe UI" pitchFamily="34" charset="0"/>
                          <a:ea typeface="Segoe UI" pitchFamily="34" charset="-122"/>
                          <a:cs typeface="Segoe UI" pitchFamily="34" charset="-120"/>
                        </a:rPr>
                        <a:t>TO FILL IN: the pass mark your group set (for example, “at least 60% would use it”)</a:t>
                      </a:r>
                      <a:endParaRPr lang="en-US" sz="1200" dirty="0">
                        <a:latin typeface="Segoe UI" charset="0"/>
                        <a:ea typeface="Segoe UI" charset="0"/>
                        <a:cs typeface="Segoe UI" charset="0"/>
                      </a:endParaRPr>
                    </a:p>
                  </a:txBody>
                  <a:tcPr marL="128016" marR="128016" marT="36576" marB="36576" anchor="ctr">
                    <a:lnL w="25400" cap="flat" cmpd="sng" algn="ctr">
                      <a:solidFill>
                        <a:srgbClr val="FFF6E5"/>
                      </a:solidFill>
                      <a:prstDash val="solid"/>
                      <a:round/>
                      <a:headEnd type="none" w="med" len="med"/>
                      <a:tailEnd type="none" w="med" len="med"/>
                    </a:lnL>
                    <a:lnR w="25400" cap="flat" cmpd="sng" algn="ctr">
                      <a:solidFill>
                        <a:srgbClr val="FFF6E5"/>
                      </a:solidFill>
                      <a:prstDash val="solid"/>
                      <a:round/>
                      <a:headEnd type="none" w="med" len="med"/>
                      <a:tailEnd type="none" w="med" len="med"/>
                    </a:lnR>
                    <a:lnT w="25400" cap="flat" cmpd="sng" algn="ctr">
                      <a:solidFill>
                        <a:srgbClr val="FFF6E5"/>
                      </a:solidFill>
                      <a:prstDash val="solid"/>
                      <a:round/>
                      <a:headEnd type="none" w="med" len="med"/>
                      <a:tailEnd type="none" w="med" len="med"/>
                    </a:lnT>
                    <a:lnB w="25400" cap="flat" cmpd="sng" algn="ctr">
                      <a:solidFill>
                        <a:srgbClr val="FFF6E5"/>
                      </a:solidFill>
                      <a:prstDash val="solid"/>
                      <a:round/>
                      <a:headEnd type="none" w="med" len="med"/>
                      <a:tailEnd type="none" w="med" len="med"/>
                    </a:lnB>
                    <a:solidFill>
                      <a:srgbClr val="FFC83D"/>
                    </a:solidFill>
                  </a:tcPr>
                </a:tc>
              </a:tr>
              <a:tr h="484632">
                <a:tc>
                  <a:txBody>
                    <a:bodyPr/>
                    <a:lstStyle/>
                    <a:p>
                      <a:pPr indent="0" marL="0">
                        <a:buNone/>
                      </a:pPr>
                      <a:r>
                        <a:rPr lang="en-US" sz="1200" b="1" dirty="0">
                          <a:solidFill>
                            <a:srgbClr val="FFFFFF"/>
                          </a:solidFill>
                          <a:latin typeface="Segoe UI" pitchFamily="34" charset="0"/>
                          <a:ea typeface="Segoe UI" pitchFamily="34" charset="-122"/>
                          <a:cs typeface="Segoe UI" pitchFamily="34" charset="-120"/>
                        </a:rPr>
                        <a:t>Result</a:t>
                      </a:r>
                      <a:endParaRPr lang="en-US" sz="1200" dirty="0">
                        <a:latin typeface="Segoe UI" charset="0"/>
                        <a:ea typeface="Segoe UI" charset="0"/>
                        <a:cs typeface="Segoe UI" charset="0"/>
                      </a:endParaRPr>
                    </a:p>
                  </a:txBody>
                  <a:tcPr marL="128016" marR="128016" marT="36576" marB="36576" anchor="ctr">
                    <a:lnL w="25400" cap="flat" cmpd="sng" algn="ctr">
                      <a:solidFill>
                        <a:srgbClr val="FFF6E5"/>
                      </a:solidFill>
                      <a:prstDash val="solid"/>
                      <a:round/>
                      <a:headEnd type="none" w="med" len="med"/>
                      <a:tailEnd type="none" w="med" len="med"/>
                    </a:lnL>
                    <a:lnR w="25400" cap="flat" cmpd="sng" algn="ctr">
                      <a:solidFill>
                        <a:srgbClr val="FFF6E5"/>
                      </a:solidFill>
                      <a:prstDash val="solid"/>
                      <a:round/>
                      <a:headEnd type="none" w="med" len="med"/>
                      <a:tailEnd type="none" w="med" len="med"/>
                    </a:lnR>
                    <a:lnT w="25400" cap="flat" cmpd="sng" algn="ctr">
                      <a:solidFill>
                        <a:srgbClr val="FFF6E5"/>
                      </a:solidFill>
                      <a:prstDash val="solid"/>
                      <a:round/>
                      <a:headEnd type="none" w="med" len="med"/>
                      <a:tailEnd type="none" w="med" len="med"/>
                    </a:lnT>
                    <a:lnB w="25400" cap="flat" cmpd="sng" algn="ctr">
                      <a:solidFill>
                        <a:srgbClr val="FFF6E5"/>
                      </a:solidFill>
                      <a:prstDash val="solid"/>
                      <a:round/>
                      <a:headEnd type="none" w="med" len="med"/>
                      <a:tailEnd type="none" w="med" len="med"/>
                    </a:lnB>
                    <a:solidFill>
                      <a:srgbClr val="F26B1D"/>
                    </a:solidFill>
                  </a:tcPr>
                </a:tc>
                <a:tc>
                  <a:txBody>
                    <a:bodyPr/>
                    <a:lstStyle/>
                    <a:p>
                      <a:pPr indent="0" marL="0">
                        <a:buNone/>
                      </a:pPr>
                      <a:r>
                        <a:rPr lang="en-US" sz="1200" b="1" dirty="0">
                          <a:solidFill>
                            <a:srgbClr val="2B1D0E"/>
                          </a:solidFill>
                          <a:latin typeface="Segoe UI" pitchFamily="34" charset="0"/>
                          <a:ea typeface="Segoe UI" pitchFamily="34" charset="-122"/>
                          <a:cs typeface="Segoe UI" pitchFamily="34" charset="-120"/>
                        </a:rPr>
                        <a:t>100% would use it (20 of 20)</a:t>
                      </a:r>
                      <a:endParaRPr lang="en-US" sz="1200" dirty="0">
                        <a:latin typeface="Segoe UI" charset="0"/>
                        <a:ea typeface="Segoe UI" charset="0"/>
                        <a:cs typeface="Segoe UI" charset="0"/>
                      </a:endParaRPr>
                    </a:p>
                  </a:txBody>
                  <a:tcPr marL="128016" marR="128016" marT="36576" marB="36576" anchor="ctr">
                    <a:lnL w="25400" cap="flat" cmpd="sng" algn="ctr">
                      <a:solidFill>
                        <a:srgbClr val="FFF6E5"/>
                      </a:solidFill>
                      <a:prstDash val="solid"/>
                      <a:round/>
                      <a:headEnd type="none" w="med" len="med"/>
                      <a:tailEnd type="none" w="med" len="med"/>
                    </a:lnL>
                    <a:lnR w="25400" cap="flat" cmpd="sng" algn="ctr">
                      <a:solidFill>
                        <a:srgbClr val="FFF6E5"/>
                      </a:solidFill>
                      <a:prstDash val="solid"/>
                      <a:round/>
                      <a:headEnd type="none" w="med" len="med"/>
                      <a:tailEnd type="none" w="med" len="med"/>
                    </a:lnR>
                    <a:lnT w="25400" cap="flat" cmpd="sng" algn="ctr">
                      <a:solidFill>
                        <a:srgbClr val="FFF6E5"/>
                      </a:solidFill>
                      <a:prstDash val="solid"/>
                      <a:round/>
                      <a:headEnd type="none" w="med" len="med"/>
                      <a:tailEnd type="none" w="med" len="med"/>
                    </a:lnT>
                    <a:lnB w="25400" cap="flat" cmpd="sng" algn="ctr">
                      <a:solidFill>
                        <a:srgbClr val="FFF6E5"/>
                      </a:solidFill>
                      <a:prstDash val="solid"/>
                      <a:round/>
                      <a:headEnd type="none" w="med" len="med"/>
                      <a:tailEnd type="none" w="med" len="med"/>
                    </a:lnB>
                    <a:solidFill>
                      <a:srgbClr val="FFFFFF"/>
                    </a:solidFill>
                  </a:tcPr>
                </a:tc>
              </a:tr>
              <a:tr h="484632">
                <a:tc>
                  <a:txBody>
                    <a:bodyPr/>
                    <a:lstStyle/>
                    <a:p>
                      <a:pPr indent="0" marL="0">
                        <a:buNone/>
                      </a:pPr>
                      <a:r>
                        <a:rPr lang="en-US" sz="1200" b="1" dirty="0">
                          <a:solidFill>
                            <a:srgbClr val="FFFFFF"/>
                          </a:solidFill>
                          <a:latin typeface="Segoe UI" pitchFamily="34" charset="0"/>
                          <a:ea typeface="Segoe UI" pitchFamily="34" charset="-122"/>
                          <a:cs typeface="Segoe UI" pitchFamily="34" charset="-120"/>
                        </a:rPr>
                        <a:t>Action</a:t>
                      </a:r>
                      <a:endParaRPr lang="en-US" sz="1200" dirty="0">
                        <a:latin typeface="Segoe UI" charset="0"/>
                        <a:ea typeface="Segoe UI" charset="0"/>
                        <a:cs typeface="Segoe UI" charset="0"/>
                      </a:endParaRPr>
                    </a:p>
                  </a:txBody>
                  <a:tcPr marL="128016" marR="128016" marT="36576" marB="36576" anchor="ctr">
                    <a:lnL w="25400" cap="flat" cmpd="sng" algn="ctr">
                      <a:solidFill>
                        <a:srgbClr val="FFF6E5"/>
                      </a:solidFill>
                      <a:prstDash val="solid"/>
                      <a:round/>
                      <a:headEnd type="none" w="med" len="med"/>
                      <a:tailEnd type="none" w="med" len="med"/>
                    </a:lnL>
                    <a:lnR w="25400" cap="flat" cmpd="sng" algn="ctr">
                      <a:solidFill>
                        <a:srgbClr val="FFF6E5"/>
                      </a:solidFill>
                      <a:prstDash val="solid"/>
                      <a:round/>
                      <a:headEnd type="none" w="med" len="med"/>
                      <a:tailEnd type="none" w="med" len="med"/>
                    </a:lnR>
                    <a:lnT w="25400" cap="flat" cmpd="sng" algn="ctr">
                      <a:solidFill>
                        <a:srgbClr val="FFF6E5"/>
                      </a:solidFill>
                      <a:prstDash val="solid"/>
                      <a:round/>
                      <a:headEnd type="none" w="med" len="med"/>
                      <a:tailEnd type="none" w="med" len="med"/>
                    </a:lnT>
                    <a:lnB w="25400" cap="flat" cmpd="sng" algn="ctr">
                      <a:solidFill>
                        <a:srgbClr val="FFF6E5"/>
                      </a:solidFill>
                      <a:prstDash val="solid"/>
                      <a:round/>
                      <a:headEnd type="none" w="med" len="med"/>
                      <a:tailEnd type="none" w="med" len="med"/>
                    </a:lnB>
                    <a:solidFill>
                      <a:srgbClr val="F26B1D"/>
                    </a:solidFill>
                  </a:tcPr>
                </a:tc>
                <a:tc>
                  <a:txBody>
                    <a:bodyPr/>
                    <a:lstStyle/>
                    <a:p>
                      <a:pPr indent="0" marL="0">
                        <a:buNone/>
                      </a:pPr>
                      <a:r>
                        <a:rPr lang="en-US" sz="1200" b="1" dirty="0">
                          <a:solidFill>
                            <a:srgbClr val="2B1D0E"/>
                          </a:solidFill>
                          <a:latin typeface="Segoe UI" pitchFamily="34" charset="0"/>
                          <a:ea typeface="Segoe UI" pitchFamily="34" charset="-122"/>
                          <a:cs typeface="Segoe UI" pitchFamily="34" charset="-120"/>
                        </a:rPr>
                        <a:t>Pursue</a:t>
                      </a:r>
                      <a:endParaRPr lang="en-US" sz="1200" dirty="0">
                        <a:latin typeface="Segoe UI" charset="0"/>
                        <a:ea typeface="Segoe UI" charset="0"/>
                        <a:cs typeface="Segoe UI" charset="0"/>
                      </a:endParaRPr>
                    </a:p>
                  </a:txBody>
                  <a:tcPr marL="128016" marR="128016" marT="36576" marB="36576" anchor="ctr">
                    <a:lnL w="25400" cap="flat" cmpd="sng" algn="ctr">
                      <a:solidFill>
                        <a:srgbClr val="FFF6E5"/>
                      </a:solidFill>
                      <a:prstDash val="solid"/>
                      <a:round/>
                      <a:headEnd type="none" w="med" len="med"/>
                      <a:tailEnd type="none" w="med" len="med"/>
                    </a:lnL>
                    <a:lnR w="25400" cap="flat" cmpd="sng" algn="ctr">
                      <a:solidFill>
                        <a:srgbClr val="FFF6E5"/>
                      </a:solidFill>
                      <a:prstDash val="solid"/>
                      <a:round/>
                      <a:headEnd type="none" w="med" len="med"/>
                      <a:tailEnd type="none" w="med" len="med"/>
                    </a:lnR>
                    <a:lnT w="25400" cap="flat" cmpd="sng" algn="ctr">
                      <a:solidFill>
                        <a:srgbClr val="FFF6E5"/>
                      </a:solidFill>
                      <a:prstDash val="solid"/>
                      <a:round/>
                      <a:headEnd type="none" w="med" len="med"/>
                      <a:tailEnd type="none" w="med" len="med"/>
                    </a:lnT>
                    <a:lnB w="25400" cap="flat" cmpd="sng" algn="ctr">
                      <a:solidFill>
                        <a:srgbClr val="FFF6E5"/>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6E5"/>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26B1D"/>
          </a:solidFill>
          <a:ln w="12700">
            <a:solidFill>
              <a:srgbClr val="F26B1D"/>
            </a:solidFill>
            <a:prstDash val="solid"/>
          </a:ln>
        </p:spPr>
      </p:sp>
      <p:sp>
        <p:nvSpPr>
          <p:cNvPr id="3" name="Text 1"/>
          <p:cNvSpPr/>
          <p:nvPr/>
        </p:nvSpPr>
        <p:spPr>
          <a:xfrm>
            <a:off x="502920" y="219456"/>
            <a:ext cx="8138160" cy="237744"/>
          </a:xfrm>
          <a:prstGeom prst="rect">
            <a:avLst/>
          </a:prstGeom>
          <a:noFill/>
          <a:ln/>
        </p:spPr>
        <p:txBody>
          <a:bodyPr wrap="square" lIns="0" tIns="0" rIns="0" bIns="0" rtlCol="0" anchor="ctr"/>
          <a:lstStyle/>
          <a:p>
            <a:pPr indent="0" marL="0">
              <a:buNone/>
            </a:pPr>
            <a:r>
              <a:rPr lang="en-US" sz="1050" b="1" spc="200" kern="0" dirty="0">
                <a:solidFill>
                  <a:srgbClr val="F26B1D"/>
                </a:solidFill>
                <a:latin typeface="Segoe UI" pitchFamily="34" charset="0"/>
                <a:ea typeface="Segoe UI" pitchFamily="34" charset="-122"/>
                <a:cs typeface="Segoe UI" pitchFamily="34" charset="-120"/>
              </a:rPr>
              <a:t>FINDINGS · THE PROBLEM (Q1 TO Q3)</a:t>
            </a:r>
            <a:endParaRPr lang="en-US" sz="1050" dirty="0"/>
          </a:p>
        </p:txBody>
      </p:sp>
      <p:sp>
        <p:nvSpPr>
          <p:cNvPr id="4" name="Text 2"/>
          <p:cNvSpPr/>
          <p:nvPr/>
        </p:nvSpPr>
        <p:spPr>
          <a:xfrm>
            <a:off x="502920" y="457200"/>
            <a:ext cx="8138160" cy="685800"/>
          </a:xfrm>
          <a:prstGeom prst="rect">
            <a:avLst/>
          </a:prstGeom>
          <a:noFill/>
          <a:ln/>
        </p:spPr>
        <p:txBody>
          <a:bodyPr wrap="square" lIns="0" tIns="0" rIns="0" bIns="0" rtlCol="0" anchor="t">
            <a:normAutofit/>
          </a:bodyPr>
          <a:lstStyle/>
          <a:p>
            <a:pPr indent="0" marL="0">
              <a:buNone/>
            </a:pPr>
            <a:r>
              <a:rPr lang="en-US" sz="2000" b="1" dirty="0">
                <a:solidFill>
                  <a:srgbClr val="2B1D0E"/>
                </a:solidFill>
                <a:latin typeface="Segoe UI" pitchFamily="34" charset="0"/>
                <a:ea typeface="Segoe UI" pitchFamily="34" charset="-122"/>
                <a:cs typeface="Segoe UI" pitchFamily="34" charset="-120"/>
              </a:rPr>
              <a:t>Top pain: places are full or closed, or the info is wrong</a:t>
            </a:r>
            <a:endParaRPr lang="en-US" sz="2000" dirty="0"/>
          </a:p>
        </p:txBody>
      </p:sp>
      <p:sp>
        <p:nvSpPr>
          <p:cNvPr id="5" name="Text 3"/>
          <p:cNvSpPr/>
          <p:nvPr/>
        </p:nvSpPr>
        <p:spPr>
          <a:xfrm>
            <a:off x="502920" y="4791456"/>
            <a:ext cx="4572000" cy="219456"/>
          </a:xfrm>
          <a:prstGeom prst="rect">
            <a:avLst/>
          </a:prstGeom>
          <a:noFill/>
          <a:ln/>
        </p:spPr>
        <p:txBody>
          <a:bodyPr wrap="square" lIns="0" tIns="0" rIns="0" bIns="0" rtlCol="0" anchor="ctr"/>
          <a:lstStyle/>
          <a:p>
            <a:pPr indent="0" marL="0">
              <a:buNone/>
            </a:pPr>
            <a:r>
              <a:rPr lang="en-US" sz="900" dirty="0">
                <a:solidFill>
                  <a:srgbClr val="7A6650"/>
                </a:solidFill>
                <a:latin typeface="Segoe UI" pitchFamily="34" charset="0"/>
                <a:ea typeface="Segoe UI" pitchFamily="34" charset="-122"/>
                <a:cs typeface="Segoe UI" pitchFamily="34" charset="-120"/>
              </a:rPr>
              <a:t>Keni · Validation results</a:t>
            </a:r>
            <a:endParaRPr lang="en-US" sz="900" dirty="0"/>
          </a:p>
        </p:txBody>
      </p:sp>
      <p:sp>
        <p:nvSpPr>
          <p:cNvPr id="6" name="Text 4"/>
          <p:cNvSpPr/>
          <p:nvPr/>
        </p:nvSpPr>
        <p:spPr>
          <a:xfrm>
            <a:off x="7726680" y="4791456"/>
            <a:ext cx="914400" cy="219456"/>
          </a:xfrm>
          <a:prstGeom prst="rect">
            <a:avLst/>
          </a:prstGeom>
          <a:noFill/>
          <a:ln/>
        </p:spPr>
        <p:txBody>
          <a:bodyPr wrap="square" lIns="0" tIns="0" rIns="0" bIns="0" rtlCol="0" anchor="ctr"/>
          <a:lstStyle/>
          <a:p>
            <a:pPr algn="r" indent="0" marL="0">
              <a:buNone/>
            </a:pPr>
            <a:r>
              <a:rPr lang="en-US" sz="900" dirty="0">
                <a:solidFill>
                  <a:srgbClr val="7A6650"/>
                </a:solidFill>
                <a:latin typeface="Segoe UI" pitchFamily="34" charset="0"/>
                <a:ea typeface="Segoe UI" pitchFamily="34" charset="-122"/>
                <a:cs typeface="Segoe UI" pitchFamily="34" charset="-120"/>
              </a:rPr>
              <a:t>3 / 7</a:t>
            </a:r>
            <a:endParaRPr lang="en-US" sz="900" dirty="0"/>
          </a:p>
        </p:txBody>
      </p:sp>
      <p:sp>
        <p:nvSpPr>
          <p:cNvPr id="8" name="Text 5"/>
          <p:cNvSpPr/>
          <p:nvPr/>
        </p:nvSpPr>
        <p:spPr>
          <a:xfrm>
            <a:off x="502920" y="1234440"/>
            <a:ext cx="3611880" cy="457200"/>
          </a:xfrm>
          <a:prstGeom prst="rect">
            <a:avLst/>
          </a:prstGeom>
          <a:noFill/>
          <a:ln/>
        </p:spPr>
        <p:txBody>
          <a:bodyPr wrap="square" lIns="0" tIns="0" rIns="0" bIns="0" rtlCol="0" anchor="ctr"/>
          <a:lstStyle/>
          <a:p>
            <a:pPr indent="0" marL="0">
              <a:buNone/>
            </a:pPr>
            <a:r>
              <a:rPr lang="en-US" sz="1200" dirty="0">
                <a:solidFill>
                  <a:srgbClr val="2B1D0E"/>
                </a:solidFill>
                <a:latin typeface="Segoe UI" pitchFamily="34" charset="0"/>
                <a:ea typeface="Segoe UI" pitchFamily="34" charset="-122"/>
                <a:cs typeface="Segoe UI" pitchFamily="34" charset="-120"/>
              </a:rPr>
              <a:t>Place is full, closed or crowded</a:t>
            </a:r>
            <a:endParaRPr lang="en-US" sz="1200" dirty="0"/>
          </a:p>
        </p:txBody>
      </p:sp>
      <p:sp>
        <p:nvSpPr>
          <p:cNvPr id="9" name="Shape 6"/>
          <p:cNvSpPr/>
          <p:nvPr/>
        </p:nvSpPr>
        <p:spPr>
          <a:xfrm>
            <a:off x="4251960" y="1344168"/>
            <a:ext cx="3200400" cy="237744"/>
          </a:xfrm>
          <a:prstGeom prst="roundRect">
            <a:avLst>
              <a:gd name="adj" fmla="val 19231"/>
            </a:avLst>
          </a:prstGeom>
          <a:solidFill>
            <a:srgbClr val="F3E3C3"/>
          </a:solidFill>
          <a:ln w="12700">
            <a:solidFill>
              <a:srgbClr val="F3E3C3"/>
            </a:solidFill>
            <a:prstDash val="solid"/>
          </a:ln>
        </p:spPr>
      </p:sp>
      <p:sp>
        <p:nvSpPr>
          <p:cNvPr id="10" name="Shape 7"/>
          <p:cNvSpPr/>
          <p:nvPr/>
        </p:nvSpPr>
        <p:spPr>
          <a:xfrm>
            <a:off x="4251960" y="1344168"/>
            <a:ext cx="2304288" cy="237744"/>
          </a:xfrm>
          <a:prstGeom prst="roundRect">
            <a:avLst>
              <a:gd name="adj" fmla="val 19231"/>
            </a:avLst>
          </a:prstGeom>
          <a:solidFill>
            <a:srgbClr val="F26B1D"/>
          </a:solidFill>
          <a:ln w="12700">
            <a:solidFill>
              <a:srgbClr val="F26B1D"/>
            </a:solidFill>
            <a:prstDash val="solid"/>
          </a:ln>
        </p:spPr>
      </p:sp>
      <p:sp>
        <p:nvSpPr>
          <p:cNvPr id="11" name="Text 8"/>
          <p:cNvSpPr/>
          <p:nvPr/>
        </p:nvSpPr>
        <p:spPr>
          <a:xfrm>
            <a:off x="7562088" y="1234440"/>
            <a:ext cx="1143000" cy="457200"/>
          </a:xfrm>
          <a:prstGeom prst="rect">
            <a:avLst/>
          </a:prstGeom>
          <a:noFill/>
          <a:ln/>
        </p:spPr>
        <p:txBody>
          <a:bodyPr wrap="square" lIns="0" tIns="0" rIns="0" bIns="0" rtlCol="0" anchor="ctr"/>
          <a:lstStyle/>
          <a:p>
            <a:pPr indent="0" marL="0">
              <a:buNone/>
            </a:pPr>
            <a:r>
              <a:rPr lang="en-US" sz="1200" b="1" dirty="0">
                <a:solidFill>
                  <a:srgbClr val="2B1D0E"/>
                </a:solidFill>
                <a:latin typeface="Segoe UI" pitchFamily="34" charset="0"/>
                <a:ea typeface="Segoe UI" pitchFamily="34" charset="-122"/>
                <a:cs typeface="Segoe UI" pitchFamily="34" charset="-120"/>
              </a:rPr>
              <a:t>72%  (13)</a:t>
            </a:r>
            <a:endParaRPr lang="en-US" sz="1200" dirty="0"/>
          </a:p>
        </p:txBody>
      </p:sp>
      <p:sp>
        <p:nvSpPr>
          <p:cNvPr id="12" name="Text 9"/>
          <p:cNvSpPr/>
          <p:nvPr/>
        </p:nvSpPr>
        <p:spPr>
          <a:xfrm>
            <a:off x="502920" y="1691640"/>
            <a:ext cx="3611880" cy="457200"/>
          </a:xfrm>
          <a:prstGeom prst="rect">
            <a:avLst/>
          </a:prstGeom>
          <a:noFill/>
          <a:ln/>
        </p:spPr>
        <p:txBody>
          <a:bodyPr wrap="square" lIns="0" tIns="0" rIns="0" bIns="0" rtlCol="0" anchor="ctr"/>
          <a:lstStyle/>
          <a:p>
            <a:pPr indent="0" marL="0">
              <a:buNone/>
            </a:pPr>
            <a:r>
              <a:rPr lang="en-US" sz="1200" dirty="0">
                <a:solidFill>
                  <a:srgbClr val="2B1D0E"/>
                </a:solidFill>
                <a:latin typeface="Segoe UI" pitchFamily="34" charset="0"/>
                <a:ea typeface="Segoe UI" pitchFamily="34" charset="-122"/>
                <a:cs typeface="Segoe UI" pitchFamily="34" charset="-120"/>
              </a:rPr>
              <a:t>Outdated or missing shop info</a:t>
            </a:r>
            <a:endParaRPr lang="en-US" sz="1200" dirty="0"/>
          </a:p>
        </p:txBody>
      </p:sp>
      <p:sp>
        <p:nvSpPr>
          <p:cNvPr id="13" name="Shape 10"/>
          <p:cNvSpPr/>
          <p:nvPr/>
        </p:nvSpPr>
        <p:spPr>
          <a:xfrm>
            <a:off x="4251960" y="1801368"/>
            <a:ext cx="3200400" cy="237744"/>
          </a:xfrm>
          <a:prstGeom prst="roundRect">
            <a:avLst>
              <a:gd name="adj" fmla="val 19231"/>
            </a:avLst>
          </a:prstGeom>
          <a:solidFill>
            <a:srgbClr val="F3E3C3"/>
          </a:solidFill>
          <a:ln w="12700">
            <a:solidFill>
              <a:srgbClr val="F3E3C3"/>
            </a:solidFill>
            <a:prstDash val="solid"/>
          </a:ln>
        </p:spPr>
      </p:sp>
      <p:sp>
        <p:nvSpPr>
          <p:cNvPr id="14" name="Shape 11"/>
          <p:cNvSpPr/>
          <p:nvPr/>
        </p:nvSpPr>
        <p:spPr>
          <a:xfrm>
            <a:off x="4251960" y="1801368"/>
            <a:ext cx="2144268" cy="237744"/>
          </a:xfrm>
          <a:prstGeom prst="roundRect">
            <a:avLst>
              <a:gd name="adj" fmla="val 19231"/>
            </a:avLst>
          </a:prstGeom>
          <a:solidFill>
            <a:srgbClr val="F26B1D"/>
          </a:solidFill>
          <a:ln w="12700">
            <a:solidFill>
              <a:srgbClr val="F26B1D"/>
            </a:solidFill>
            <a:prstDash val="solid"/>
          </a:ln>
        </p:spPr>
      </p:sp>
      <p:sp>
        <p:nvSpPr>
          <p:cNvPr id="15" name="Text 12"/>
          <p:cNvSpPr/>
          <p:nvPr/>
        </p:nvSpPr>
        <p:spPr>
          <a:xfrm>
            <a:off x="7562088" y="1691640"/>
            <a:ext cx="1143000" cy="457200"/>
          </a:xfrm>
          <a:prstGeom prst="rect">
            <a:avLst/>
          </a:prstGeom>
          <a:noFill/>
          <a:ln/>
        </p:spPr>
        <p:txBody>
          <a:bodyPr wrap="square" lIns="0" tIns="0" rIns="0" bIns="0" rtlCol="0" anchor="ctr"/>
          <a:lstStyle/>
          <a:p>
            <a:pPr indent="0" marL="0">
              <a:buNone/>
            </a:pPr>
            <a:r>
              <a:rPr lang="en-US" sz="1200" b="1" dirty="0">
                <a:solidFill>
                  <a:srgbClr val="2B1D0E"/>
                </a:solidFill>
                <a:latin typeface="Segoe UI" pitchFamily="34" charset="0"/>
                <a:ea typeface="Segoe UI" pitchFamily="34" charset="-122"/>
                <a:cs typeface="Segoe UI" pitchFamily="34" charset="-120"/>
              </a:rPr>
              <a:t>67%  (12)</a:t>
            </a:r>
            <a:endParaRPr lang="en-US" sz="1200" dirty="0"/>
          </a:p>
        </p:txBody>
      </p:sp>
      <p:sp>
        <p:nvSpPr>
          <p:cNvPr id="16" name="Text 13"/>
          <p:cNvSpPr/>
          <p:nvPr/>
        </p:nvSpPr>
        <p:spPr>
          <a:xfrm>
            <a:off x="502920" y="2148840"/>
            <a:ext cx="3611880" cy="457200"/>
          </a:xfrm>
          <a:prstGeom prst="rect">
            <a:avLst/>
          </a:prstGeom>
          <a:noFill/>
          <a:ln/>
        </p:spPr>
        <p:txBody>
          <a:bodyPr wrap="square" lIns="0" tIns="0" rIns="0" bIns="0" rtlCol="0" anchor="ctr"/>
          <a:lstStyle/>
          <a:p>
            <a:pPr indent="0" marL="0">
              <a:buNone/>
            </a:pPr>
            <a:r>
              <a:rPr lang="en-US" sz="1200" dirty="0">
                <a:solidFill>
                  <a:srgbClr val="2B1D0E"/>
                </a:solidFill>
                <a:latin typeface="Segoe UI" pitchFamily="34" charset="0"/>
                <a:ea typeface="Segoe UI" pitchFamily="34" charset="-122"/>
                <a:cs typeface="Segoe UI" pitchFamily="34" charset="-120"/>
              </a:rPr>
              <a:t>Budget or price unclear</a:t>
            </a:r>
            <a:endParaRPr lang="en-US" sz="1200" dirty="0"/>
          </a:p>
        </p:txBody>
      </p:sp>
      <p:sp>
        <p:nvSpPr>
          <p:cNvPr id="17" name="Shape 14"/>
          <p:cNvSpPr/>
          <p:nvPr/>
        </p:nvSpPr>
        <p:spPr>
          <a:xfrm>
            <a:off x="4251960" y="2258568"/>
            <a:ext cx="3200400" cy="237744"/>
          </a:xfrm>
          <a:prstGeom prst="roundRect">
            <a:avLst>
              <a:gd name="adj" fmla="val 19231"/>
            </a:avLst>
          </a:prstGeom>
          <a:solidFill>
            <a:srgbClr val="F3E3C3"/>
          </a:solidFill>
          <a:ln w="12700">
            <a:solidFill>
              <a:srgbClr val="F3E3C3"/>
            </a:solidFill>
            <a:prstDash val="solid"/>
          </a:ln>
        </p:spPr>
      </p:sp>
      <p:sp>
        <p:nvSpPr>
          <p:cNvPr id="18" name="Shape 15"/>
          <p:cNvSpPr/>
          <p:nvPr/>
        </p:nvSpPr>
        <p:spPr>
          <a:xfrm>
            <a:off x="4251960" y="2258568"/>
            <a:ext cx="1792224" cy="237744"/>
          </a:xfrm>
          <a:prstGeom prst="roundRect">
            <a:avLst>
              <a:gd name="adj" fmla="val 19231"/>
            </a:avLst>
          </a:prstGeom>
          <a:solidFill>
            <a:srgbClr val="FFC83D"/>
          </a:solidFill>
          <a:ln w="12700">
            <a:solidFill>
              <a:srgbClr val="FFC83D"/>
            </a:solidFill>
            <a:prstDash val="solid"/>
          </a:ln>
        </p:spPr>
      </p:sp>
      <p:sp>
        <p:nvSpPr>
          <p:cNvPr id="19" name="Text 16"/>
          <p:cNvSpPr/>
          <p:nvPr/>
        </p:nvSpPr>
        <p:spPr>
          <a:xfrm>
            <a:off x="7562088" y="2148840"/>
            <a:ext cx="1143000" cy="457200"/>
          </a:xfrm>
          <a:prstGeom prst="rect">
            <a:avLst/>
          </a:prstGeom>
          <a:noFill/>
          <a:ln/>
        </p:spPr>
        <p:txBody>
          <a:bodyPr wrap="square" lIns="0" tIns="0" rIns="0" bIns="0" rtlCol="0" anchor="ctr"/>
          <a:lstStyle/>
          <a:p>
            <a:pPr indent="0" marL="0">
              <a:buNone/>
            </a:pPr>
            <a:r>
              <a:rPr lang="en-US" sz="1200" b="1" dirty="0">
                <a:solidFill>
                  <a:srgbClr val="2B1D0E"/>
                </a:solidFill>
                <a:latin typeface="Segoe UI" pitchFamily="34" charset="0"/>
                <a:ea typeface="Segoe UI" pitchFamily="34" charset="-122"/>
                <a:cs typeface="Segoe UI" pitchFamily="34" charset="-120"/>
              </a:rPr>
              <a:t>56%  (10)</a:t>
            </a:r>
            <a:endParaRPr lang="en-US" sz="1200" dirty="0"/>
          </a:p>
        </p:txBody>
      </p:sp>
      <p:sp>
        <p:nvSpPr>
          <p:cNvPr id="20" name="Text 17"/>
          <p:cNvSpPr/>
          <p:nvPr/>
        </p:nvSpPr>
        <p:spPr>
          <a:xfrm>
            <a:off x="502920" y="2606040"/>
            <a:ext cx="3611880" cy="457200"/>
          </a:xfrm>
          <a:prstGeom prst="rect">
            <a:avLst/>
          </a:prstGeom>
          <a:noFill/>
          <a:ln/>
        </p:spPr>
        <p:txBody>
          <a:bodyPr wrap="square" lIns="0" tIns="0" rIns="0" bIns="0" rtlCol="0" anchor="ctr"/>
          <a:lstStyle/>
          <a:p>
            <a:pPr indent="0" marL="0">
              <a:buNone/>
            </a:pPr>
            <a:r>
              <a:rPr lang="en-US" sz="1200" dirty="0">
                <a:solidFill>
                  <a:srgbClr val="2B1D0E"/>
                </a:solidFill>
                <a:latin typeface="Segoe UI" pitchFamily="34" charset="0"/>
                <a:ea typeface="Segoe UI" pitchFamily="34" charset="-122"/>
                <a:cs typeface="Segoe UI" pitchFamily="34" charset="-120"/>
              </a:rPr>
              <a:t>Too many options, hard to decide as a group</a:t>
            </a:r>
            <a:endParaRPr lang="en-US" sz="1200" dirty="0"/>
          </a:p>
        </p:txBody>
      </p:sp>
      <p:sp>
        <p:nvSpPr>
          <p:cNvPr id="21" name="Shape 18"/>
          <p:cNvSpPr/>
          <p:nvPr/>
        </p:nvSpPr>
        <p:spPr>
          <a:xfrm>
            <a:off x="4251960" y="2715768"/>
            <a:ext cx="3200400" cy="237744"/>
          </a:xfrm>
          <a:prstGeom prst="roundRect">
            <a:avLst>
              <a:gd name="adj" fmla="val 19231"/>
            </a:avLst>
          </a:prstGeom>
          <a:solidFill>
            <a:srgbClr val="F3E3C3"/>
          </a:solidFill>
          <a:ln w="12700">
            <a:solidFill>
              <a:srgbClr val="F3E3C3"/>
            </a:solidFill>
            <a:prstDash val="solid"/>
          </a:ln>
        </p:spPr>
      </p:sp>
      <p:sp>
        <p:nvSpPr>
          <p:cNvPr id="22" name="Shape 19"/>
          <p:cNvSpPr/>
          <p:nvPr/>
        </p:nvSpPr>
        <p:spPr>
          <a:xfrm>
            <a:off x="4251960" y="2715768"/>
            <a:ext cx="1600200" cy="237744"/>
          </a:xfrm>
          <a:prstGeom prst="roundRect">
            <a:avLst>
              <a:gd name="adj" fmla="val 19231"/>
            </a:avLst>
          </a:prstGeom>
          <a:solidFill>
            <a:srgbClr val="FFC83D"/>
          </a:solidFill>
          <a:ln w="12700">
            <a:solidFill>
              <a:srgbClr val="FFC83D"/>
            </a:solidFill>
            <a:prstDash val="solid"/>
          </a:ln>
        </p:spPr>
      </p:sp>
      <p:sp>
        <p:nvSpPr>
          <p:cNvPr id="23" name="Text 20"/>
          <p:cNvSpPr/>
          <p:nvPr/>
        </p:nvSpPr>
        <p:spPr>
          <a:xfrm>
            <a:off x="7562088" y="2606040"/>
            <a:ext cx="1143000" cy="457200"/>
          </a:xfrm>
          <a:prstGeom prst="rect">
            <a:avLst/>
          </a:prstGeom>
          <a:noFill/>
          <a:ln/>
        </p:spPr>
        <p:txBody>
          <a:bodyPr wrap="square" lIns="0" tIns="0" rIns="0" bIns="0" rtlCol="0" anchor="ctr"/>
          <a:lstStyle/>
          <a:p>
            <a:pPr indent="0" marL="0">
              <a:buNone/>
            </a:pPr>
            <a:r>
              <a:rPr lang="en-US" sz="1200" b="1" dirty="0">
                <a:solidFill>
                  <a:srgbClr val="2B1D0E"/>
                </a:solidFill>
                <a:latin typeface="Segoe UI" pitchFamily="34" charset="0"/>
                <a:ea typeface="Segoe UI" pitchFamily="34" charset="-122"/>
                <a:cs typeface="Segoe UI" pitchFamily="34" charset="-120"/>
              </a:rPr>
              <a:t>50%  (9)</a:t>
            </a:r>
            <a:endParaRPr lang="en-US" sz="1200" dirty="0"/>
          </a:p>
        </p:txBody>
      </p:sp>
      <p:sp>
        <p:nvSpPr>
          <p:cNvPr id="24" name="Text 21"/>
          <p:cNvSpPr/>
          <p:nvPr/>
        </p:nvSpPr>
        <p:spPr>
          <a:xfrm>
            <a:off x="502920" y="3063240"/>
            <a:ext cx="3611880" cy="457200"/>
          </a:xfrm>
          <a:prstGeom prst="rect">
            <a:avLst/>
          </a:prstGeom>
          <a:noFill/>
          <a:ln/>
        </p:spPr>
        <p:txBody>
          <a:bodyPr wrap="square" lIns="0" tIns="0" rIns="0" bIns="0" rtlCol="0" anchor="ctr"/>
          <a:lstStyle/>
          <a:p>
            <a:pPr indent="0" marL="0">
              <a:buNone/>
            </a:pPr>
            <a:r>
              <a:rPr lang="en-US" sz="1200" dirty="0">
                <a:solidFill>
                  <a:srgbClr val="2B1D0E"/>
                </a:solidFill>
                <a:latin typeface="Segoe UI" pitchFamily="34" charset="0"/>
                <a:ea typeface="Segoe UI" pitchFamily="34" charset="-122"/>
                <a:cs typeface="Segoe UI" pitchFamily="34" charset="-120"/>
              </a:rPr>
              <a:t>Location, nearby or transport</a:t>
            </a:r>
            <a:endParaRPr lang="en-US" sz="1200" dirty="0"/>
          </a:p>
        </p:txBody>
      </p:sp>
      <p:sp>
        <p:nvSpPr>
          <p:cNvPr id="25" name="Shape 22"/>
          <p:cNvSpPr/>
          <p:nvPr/>
        </p:nvSpPr>
        <p:spPr>
          <a:xfrm>
            <a:off x="4251960" y="3172968"/>
            <a:ext cx="3200400" cy="237744"/>
          </a:xfrm>
          <a:prstGeom prst="roundRect">
            <a:avLst>
              <a:gd name="adj" fmla="val 19231"/>
            </a:avLst>
          </a:prstGeom>
          <a:solidFill>
            <a:srgbClr val="F3E3C3"/>
          </a:solidFill>
          <a:ln w="12700">
            <a:solidFill>
              <a:srgbClr val="F3E3C3"/>
            </a:solidFill>
            <a:prstDash val="solid"/>
          </a:ln>
        </p:spPr>
      </p:sp>
      <p:sp>
        <p:nvSpPr>
          <p:cNvPr id="26" name="Shape 23"/>
          <p:cNvSpPr/>
          <p:nvPr/>
        </p:nvSpPr>
        <p:spPr>
          <a:xfrm>
            <a:off x="4251960" y="3172968"/>
            <a:ext cx="1248156" cy="237744"/>
          </a:xfrm>
          <a:prstGeom prst="roundRect">
            <a:avLst>
              <a:gd name="adj" fmla="val 19231"/>
            </a:avLst>
          </a:prstGeom>
          <a:solidFill>
            <a:srgbClr val="FFC83D"/>
          </a:solidFill>
          <a:ln w="12700">
            <a:solidFill>
              <a:srgbClr val="FFC83D"/>
            </a:solidFill>
            <a:prstDash val="solid"/>
          </a:ln>
        </p:spPr>
      </p:sp>
      <p:sp>
        <p:nvSpPr>
          <p:cNvPr id="27" name="Text 24"/>
          <p:cNvSpPr/>
          <p:nvPr/>
        </p:nvSpPr>
        <p:spPr>
          <a:xfrm>
            <a:off x="7562088" y="3063240"/>
            <a:ext cx="1143000" cy="457200"/>
          </a:xfrm>
          <a:prstGeom prst="rect">
            <a:avLst/>
          </a:prstGeom>
          <a:noFill/>
          <a:ln/>
        </p:spPr>
        <p:txBody>
          <a:bodyPr wrap="square" lIns="0" tIns="0" rIns="0" bIns="0" rtlCol="0" anchor="ctr"/>
          <a:lstStyle/>
          <a:p>
            <a:pPr indent="0" marL="0">
              <a:buNone/>
            </a:pPr>
            <a:r>
              <a:rPr lang="en-US" sz="1200" b="1" dirty="0">
                <a:solidFill>
                  <a:srgbClr val="2B1D0E"/>
                </a:solidFill>
                <a:latin typeface="Segoe UI" pitchFamily="34" charset="0"/>
                <a:ea typeface="Segoe UI" pitchFamily="34" charset="-122"/>
                <a:cs typeface="Segoe UI" pitchFamily="34" charset="-120"/>
              </a:rPr>
              <a:t>39%  (7)</a:t>
            </a:r>
            <a:endParaRPr lang="en-US" sz="1200" dirty="0"/>
          </a:p>
        </p:txBody>
      </p:sp>
      <p:sp>
        <p:nvSpPr>
          <p:cNvPr id="28" name="Text 25"/>
          <p:cNvSpPr/>
          <p:nvPr/>
        </p:nvSpPr>
        <p:spPr>
          <a:xfrm>
            <a:off x="502920" y="3520440"/>
            <a:ext cx="3611880" cy="457200"/>
          </a:xfrm>
          <a:prstGeom prst="rect">
            <a:avLst/>
          </a:prstGeom>
          <a:noFill/>
          <a:ln/>
        </p:spPr>
        <p:txBody>
          <a:bodyPr wrap="square" lIns="0" tIns="0" rIns="0" bIns="0" rtlCol="0" anchor="ctr"/>
          <a:lstStyle/>
          <a:p>
            <a:pPr indent="0" marL="0">
              <a:buNone/>
            </a:pPr>
            <a:r>
              <a:rPr lang="en-US" sz="1200" dirty="0">
                <a:solidFill>
                  <a:srgbClr val="2B1D0E"/>
                </a:solidFill>
                <a:latin typeface="Segoe UI" pitchFamily="34" charset="0"/>
                <a:ea typeface="Segoe UI" pitchFamily="34" charset="-122"/>
                <a:cs typeface="Segoe UI" pitchFamily="34" charset="-120"/>
              </a:rPr>
              <a:t>Trusting reviews (fake or missing)</a:t>
            </a:r>
            <a:endParaRPr lang="en-US" sz="1200" dirty="0"/>
          </a:p>
        </p:txBody>
      </p:sp>
      <p:sp>
        <p:nvSpPr>
          <p:cNvPr id="29" name="Shape 26"/>
          <p:cNvSpPr/>
          <p:nvPr/>
        </p:nvSpPr>
        <p:spPr>
          <a:xfrm>
            <a:off x="4251960" y="3630168"/>
            <a:ext cx="3200400" cy="237744"/>
          </a:xfrm>
          <a:prstGeom prst="roundRect">
            <a:avLst>
              <a:gd name="adj" fmla="val 19231"/>
            </a:avLst>
          </a:prstGeom>
          <a:solidFill>
            <a:srgbClr val="F3E3C3"/>
          </a:solidFill>
          <a:ln w="12700">
            <a:solidFill>
              <a:srgbClr val="F3E3C3"/>
            </a:solidFill>
            <a:prstDash val="solid"/>
          </a:ln>
        </p:spPr>
      </p:sp>
      <p:sp>
        <p:nvSpPr>
          <p:cNvPr id="30" name="Shape 27"/>
          <p:cNvSpPr/>
          <p:nvPr/>
        </p:nvSpPr>
        <p:spPr>
          <a:xfrm>
            <a:off x="4251960" y="3630168"/>
            <a:ext cx="704088" cy="237744"/>
          </a:xfrm>
          <a:prstGeom prst="roundRect">
            <a:avLst>
              <a:gd name="adj" fmla="val 19231"/>
            </a:avLst>
          </a:prstGeom>
          <a:solidFill>
            <a:srgbClr val="FFC83D"/>
          </a:solidFill>
          <a:ln w="12700">
            <a:solidFill>
              <a:srgbClr val="FFC83D"/>
            </a:solidFill>
            <a:prstDash val="solid"/>
          </a:ln>
        </p:spPr>
      </p:sp>
      <p:sp>
        <p:nvSpPr>
          <p:cNvPr id="31" name="Text 28"/>
          <p:cNvSpPr/>
          <p:nvPr/>
        </p:nvSpPr>
        <p:spPr>
          <a:xfrm>
            <a:off x="7562088" y="3520440"/>
            <a:ext cx="1143000" cy="457200"/>
          </a:xfrm>
          <a:prstGeom prst="rect">
            <a:avLst/>
          </a:prstGeom>
          <a:noFill/>
          <a:ln/>
        </p:spPr>
        <p:txBody>
          <a:bodyPr wrap="square" lIns="0" tIns="0" rIns="0" bIns="0" rtlCol="0" anchor="ctr"/>
          <a:lstStyle/>
          <a:p>
            <a:pPr indent="0" marL="0">
              <a:buNone/>
            </a:pPr>
            <a:r>
              <a:rPr lang="en-US" sz="1200" b="1" dirty="0">
                <a:solidFill>
                  <a:srgbClr val="2B1D0E"/>
                </a:solidFill>
                <a:latin typeface="Segoe UI" pitchFamily="34" charset="0"/>
                <a:ea typeface="Segoe UI" pitchFamily="34" charset="-122"/>
                <a:cs typeface="Segoe UI" pitchFamily="34" charset="-120"/>
              </a:rPr>
              <a:t>22%  (4)</a:t>
            </a:r>
            <a:endParaRPr lang="en-US" sz="1200" dirty="0"/>
          </a:p>
        </p:txBody>
      </p:sp>
      <p:sp>
        <p:nvSpPr>
          <p:cNvPr id="32" name="Text 29"/>
          <p:cNvSpPr/>
          <p:nvPr/>
        </p:nvSpPr>
        <p:spPr>
          <a:xfrm>
            <a:off x="502920" y="3977640"/>
            <a:ext cx="3611880" cy="457200"/>
          </a:xfrm>
          <a:prstGeom prst="rect">
            <a:avLst/>
          </a:prstGeom>
          <a:noFill/>
          <a:ln/>
        </p:spPr>
        <p:txBody>
          <a:bodyPr wrap="square" lIns="0" tIns="0" rIns="0" bIns="0" rtlCol="0" anchor="ctr"/>
          <a:lstStyle/>
          <a:p>
            <a:pPr indent="0" marL="0">
              <a:buNone/>
            </a:pPr>
            <a:r>
              <a:rPr lang="en-US" sz="1200" dirty="0">
                <a:solidFill>
                  <a:srgbClr val="2B1D0E"/>
                </a:solidFill>
                <a:latin typeface="Segoe UI" pitchFamily="34" charset="0"/>
                <a:ea typeface="Segoe UI" pitchFamily="34" charset="-122"/>
                <a:cs typeface="Segoe UI" pitchFamily="34" charset="-120"/>
              </a:rPr>
              <a:t>Amenities</a:t>
            </a:r>
            <a:endParaRPr lang="en-US" sz="1200" dirty="0"/>
          </a:p>
        </p:txBody>
      </p:sp>
      <p:sp>
        <p:nvSpPr>
          <p:cNvPr id="33" name="Shape 30"/>
          <p:cNvSpPr/>
          <p:nvPr/>
        </p:nvSpPr>
        <p:spPr>
          <a:xfrm>
            <a:off x="4251960" y="4087368"/>
            <a:ext cx="3200400" cy="237744"/>
          </a:xfrm>
          <a:prstGeom prst="roundRect">
            <a:avLst>
              <a:gd name="adj" fmla="val 19231"/>
            </a:avLst>
          </a:prstGeom>
          <a:solidFill>
            <a:srgbClr val="F3E3C3"/>
          </a:solidFill>
          <a:ln w="12700">
            <a:solidFill>
              <a:srgbClr val="F3E3C3"/>
            </a:solidFill>
            <a:prstDash val="solid"/>
          </a:ln>
        </p:spPr>
      </p:sp>
      <p:sp>
        <p:nvSpPr>
          <p:cNvPr id="34" name="Shape 31"/>
          <p:cNvSpPr/>
          <p:nvPr/>
        </p:nvSpPr>
        <p:spPr>
          <a:xfrm>
            <a:off x="4251960" y="4087368"/>
            <a:ext cx="352044" cy="237744"/>
          </a:xfrm>
          <a:prstGeom prst="roundRect">
            <a:avLst>
              <a:gd name="adj" fmla="val 19231"/>
            </a:avLst>
          </a:prstGeom>
          <a:solidFill>
            <a:srgbClr val="FFC83D"/>
          </a:solidFill>
          <a:ln w="12700">
            <a:solidFill>
              <a:srgbClr val="FFC83D"/>
            </a:solidFill>
            <a:prstDash val="solid"/>
          </a:ln>
        </p:spPr>
      </p:sp>
      <p:sp>
        <p:nvSpPr>
          <p:cNvPr id="35" name="Text 32"/>
          <p:cNvSpPr/>
          <p:nvPr/>
        </p:nvSpPr>
        <p:spPr>
          <a:xfrm>
            <a:off x="7562088" y="3977640"/>
            <a:ext cx="1143000" cy="457200"/>
          </a:xfrm>
          <a:prstGeom prst="rect">
            <a:avLst/>
          </a:prstGeom>
          <a:noFill/>
          <a:ln/>
        </p:spPr>
        <p:txBody>
          <a:bodyPr wrap="square" lIns="0" tIns="0" rIns="0" bIns="0" rtlCol="0" anchor="ctr"/>
          <a:lstStyle/>
          <a:p>
            <a:pPr indent="0" marL="0">
              <a:buNone/>
            </a:pPr>
            <a:r>
              <a:rPr lang="en-US" sz="1200" b="1" dirty="0">
                <a:solidFill>
                  <a:srgbClr val="2B1D0E"/>
                </a:solidFill>
                <a:latin typeface="Segoe UI" pitchFamily="34" charset="0"/>
                <a:ea typeface="Segoe UI" pitchFamily="34" charset="-122"/>
                <a:cs typeface="Segoe UI" pitchFamily="34" charset="-120"/>
              </a:rPr>
              <a:t>11%  (2)</a:t>
            </a:r>
            <a:endParaRPr lang="en-US" sz="1200" dirty="0"/>
          </a:p>
        </p:txBody>
      </p:sp>
      <p:sp>
        <p:nvSpPr>
          <p:cNvPr id="36" name="Text 33"/>
          <p:cNvSpPr/>
          <p:nvPr/>
        </p:nvSpPr>
        <p:spPr>
          <a:xfrm>
            <a:off x="502920" y="4480560"/>
            <a:ext cx="8138160" cy="237744"/>
          </a:xfrm>
          <a:prstGeom prst="rect">
            <a:avLst/>
          </a:prstGeom>
          <a:noFill/>
          <a:ln/>
        </p:spPr>
        <p:txBody>
          <a:bodyPr wrap="square" lIns="0" tIns="0" rIns="0" bIns="0" rtlCol="0" anchor="t"/>
          <a:lstStyle/>
          <a:p>
            <a:pPr indent="0" marL="0">
              <a:buNone/>
            </a:pPr>
            <a:r>
              <a:rPr lang="en-US" sz="950" i="1" dirty="0">
                <a:solidFill>
                  <a:srgbClr val="7A6650"/>
                </a:solidFill>
                <a:latin typeface="Segoe UI" pitchFamily="34" charset="0"/>
                <a:ea typeface="Segoe UI" pitchFamily="34" charset="-122"/>
                <a:cs typeface="Segoe UI" pitchFamily="34" charset="-120"/>
              </a:rPr>
              <a:t>Share of the 18 interviewees with pains recorded (2 of the 20 had none noted). People could name more than one.</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6E5"/>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26B1D"/>
          </a:solidFill>
          <a:ln w="12700">
            <a:solidFill>
              <a:srgbClr val="F26B1D"/>
            </a:solidFill>
            <a:prstDash val="solid"/>
          </a:ln>
        </p:spPr>
      </p:sp>
      <p:sp>
        <p:nvSpPr>
          <p:cNvPr id="3" name="Text 1"/>
          <p:cNvSpPr/>
          <p:nvPr/>
        </p:nvSpPr>
        <p:spPr>
          <a:xfrm>
            <a:off x="502920" y="219456"/>
            <a:ext cx="8138160" cy="237744"/>
          </a:xfrm>
          <a:prstGeom prst="rect">
            <a:avLst/>
          </a:prstGeom>
          <a:noFill/>
          <a:ln/>
        </p:spPr>
        <p:txBody>
          <a:bodyPr wrap="square" lIns="0" tIns="0" rIns="0" bIns="0" rtlCol="0" anchor="ctr"/>
          <a:lstStyle/>
          <a:p>
            <a:pPr indent="0" marL="0">
              <a:buNone/>
            </a:pPr>
            <a:r>
              <a:rPr lang="en-US" sz="1050" b="1" spc="200" kern="0" dirty="0">
                <a:solidFill>
                  <a:srgbClr val="F26B1D"/>
                </a:solidFill>
                <a:latin typeface="Segoe UI" pitchFamily="34" charset="0"/>
                <a:ea typeface="Segoe UI" pitchFamily="34" charset="-122"/>
                <a:cs typeface="Segoe UI" pitchFamily="34" charset="-120"/>
              </a:rPr>
              <a:t>FINDINGS · HOW THEY DECIDE TODAY (Q4 TO Q8)</a:t>
            </a:r>
            <a:endParaRPr lang="en-US" sz="1050" dirty="0"/>
          </a:p>
        </p:txBody>
      </p:sp>
      <p:sp>
        <p:nvSpPr>
          <p:cNvPr id="4" name="Text 2"/>
          <p:cNvSpPr/>
          <p:nvPr/>
        </p:nvSpPr>
        <p:spPr>
          <a:xfrm>
            <a:off x="502920" y="457200"/>
            <a:ext cx="8138160" cy="685800"/>
          </a:xfrm>
          <a:prstGeom prst="rect">
            <a:avLst/>
          </a:prstGeom>
          <a:noFill/>
          <a:ln/>
        </p:spPr>
        <p:txBody>
          <a:bodyPr wrap="square" lIns="0" tIns="0" rIns="0" bIns="0" rtlCol="0" anchor="t">
            <a:normAutofit/>
          </a:bodyPr>
          <a:lstStyle/>
          <a:p>
            <a:pPr indent="0" marL="0">
              <a:buNone/>
            </a:pPr>
            <a:r>
              <a:rPr lang="en-US" sz="2000" b="1" dirty="0">
                <a:solidFill>
                  <a:srgbClr val="2B1D0E"/>
                </a:solidFill>
                <a:latin typeface="Segoe UI" pitchFamily="34" charset="0"/>
                <a:ea typeface="Segoe UI" pitchFamily="34" charset="-122"/>
                <a:cs typeface="Segoe UI" pitchFamily="34" charset="-120"/>
              </a:rPr>
              <a:t>Today they pick what’s nearby and cheap, then ask around</a:t>
            </a:r>
            <a:endParaRPr lang="en-US" sz="2000" dirty="0"/>
          </a:p>
        </p:txBody>
      </p:sp>
      <p:sp>
        <p:nvSpPr>
          <p:cNvPr id="5" name="Text 3"/>
          <p:cNvSpPr/>
          <p:nvPr/>
        </p:nvSpPr>
        <p:spPr>
          <a:xfrm>
            <a:off x="502920" y="4791456"/>
            <a:ext cx="4572000" cy="219456"/>
          </a:xfrm>
          <a:prstGeom prst="rect">
            <a:avLst/>
          </a:prstGeom>
          <a:noFill/>
          <a:ln/>
        </p:spPr>
        <p:txBody>
          <a:bodyPr wrap="square" lIns="0" tIns="0" rIns="0" bIns="0" rtlCol="0" anchor="ctr"/>
          <a:lstStyle/>
          <a:p>
            <a:pPr indent="0" marL="0">
              <a:buNone/>
            </a:pPr>
            <a:r>
              <a:rPr lang="en-US" sz="900" dirty="0">
                <a:solidFill>
                  <a:srgbClr val="7A6650"/>
                </a:solidFill>
                <a:latin typeface="Segoe UI" pitchFamily="34" charset="0"/>
                <a:ea typeface="Segoe UI" pitchFamily="34" charset="-122"/>
                <a:cs typeface="Segoe UI" pitchFamily="34" charset="-120"/>
              </a:rPr>
              <a:t>Keni · Validation results</a:t>
            </a:r>
            <a:endParaRPr lang="en-US" sz="900" dirty="0"/>
          </a:p>
        </p:txBody>
      </p:sp>
      <p:sp>
        <p:nvSpPr>
          <p:cNvPr id="6" name="Text 4"/>
          <p:cNvSpPr/>
          <p:nvPr/>
        </p:nvSpPr>
        <p:spPr>
          <a:xfrm>
            <a:off x="7726680" y="4791456"/>
            <a:ext cx="914400" cy="219456"/>
          </a:xfrm>
          <a:prstGeom prst="rect">
            <a:avLst/>
          </a:prstGeom>
          <a:noFill/>
          <a:ln/>
        </p:spPr>
        <p:txBody>
          <a:bodyPr wrap="square" lIns="0" tIns="0" rIns="0" bIns="0" rtlCol="0" anchor="ctr"/>
          <a:lstStyle/>
          <a:p>
            <a:pPr algn="r" indent="0" marL="0">
              <a:buNone/>
            </a:pPr>
            <a:r>
              <a:rPr lang="en-US" sz="900" dirty="0">
                <a:solidFill>
                  <a:srgbClr val="7A6650"/>
                </a:solidFill>
                <a:latin typeface="Segoe UI" pitchFamily="34" charset="0"/>
                <a:ea typeface="Segoe UI" pitchFamily="34" charset="-122"/>
                <a:cs typeface="Segoe UI" pitchFamily="34" charset="-120"/>
              </a:rPr>
              <a:t>4 / 7</a:t>
            </a:r>
            <a:endParaRPr lang="en-US" sz="900" dirty="0"/>
          </a:p>
        </p:txBody>
      </p:sp>
      <p:sp>
        <p:nvSpPr>
          <p:cNvPr id="8" name="Text 5"/>
          <p:cNvSpPr/>
          <p:nvPr/>
        </p:nvSpPr>
        <p:spPr>
          <a:xfrm>
            <a:off x="502920" y="1188720"/>
            <a:ext cx="4937760" cy="256032"/>
          </a:xfrm>
          <a:prstGeom prst="rect">
            <a:avLst/>
          </a:prstGeom>
          <a:noFill/>
          <a:ln/>
        </p:spPr>
        <p:txBody>
          <a:bodyPr wrap="square" lIns="0" tIns="0" rIns="0" bIns="0" rtlCol="0" anchor="t"/>
          <a:lstStyle/>
          <a:p>
            <a:pPr indent="0" marL="0">
              <a:buNone/>
            </a:pPr>
            <a:r>
              <a:rPr lang="en-US" sz="1100" b="1" dirty="0">
                <a:solidFill>
                  <a:srgbClr val="7A6650"/>
                </a:solidFill>
                <a:latin typeface="Segoe UI" pitchFamily="34" charset="0"/>
                <a:ea typeface="Segoe UI" pitchFamily="34" charset="-122"/>
                <a:cs typeface="Segoe UI" pitchFamily="34" charset="-120"/>
              </a:rPr>
              <a:t>What they do now</a:t>
            </a:r>
            <a:endParaRPr lang="en-US" sz="1100" dirty="0"/>
          </a:p>
        </p:txBody>
      </p:sp>
      <p:sp>
        <p:nvSpPr>
          <p:cNvPr id="9" name="Text 6"/>
          <p:cNvSpPr/>
          <p:nvPr/>
        </p:nvSpPr>
        <p:spPr>
          <a:xfrm>
            <a:off x="502920" y="1481328"/>
            <a:ext cx="2560320" cy="457200"/>
          </a:xfrm>
          <a:prstGeom prst="rect">
            <a:avLst/>
          </a:prstGeom>
          <a:noFill/>
          <a:ln/>
        </p:spPr>
        <p:txBody>
          <a:bodyPr wrap="square" lIns="0" tIns="0" rIns="0" bIns="0" rtlCol="0" anchor="ctr"/>
          <a:lstStyle/>
          <a:p>
            <a:pPr indent="0" marL="0">
              <a:buNone/>
            </a:pPr>
            <a:r>
              <a:rPr lang="en-US" sz="1200" dirty="0">
                <a:solidFill>
                  <a:srgbClr val="2B1D0E"/>
                </a:solidFill>
                <a:latin typeface="Segoe UI" pitchFamily="34" charset="0"/>
                <a:ea typeface="Segoe UI" pitchFamily="34" charset="-122"/>
                <a:cs typeface="Segoe UI" pitchFamily="34" charset="-120"/>
              </a:rPr>
              <a:t>Nearby and cheap places</a:t>
            </a:r>
            <a:endParaRPr lang="en-US" sz="1200" dirty="0"/>
          </a:p>
        </p:txBody>
      </p:sp>
      <p:sp>
        <p:nvSpPr>
          <p:cNvPr id="10" name="Shape 7"/>
          <p:cNvSpPr/>
          <p:nvPr/>
        </p:nvSpPr>
        <p:spPr>
          <a:xfrm>
            <a:off x="3200400" y="1591056"/>
            <a:ext cx="1783080" cy="237744"/>
          </a:xfrm>
          <a:prstGeom prst="roundRect">
            <a:avLst>
              <a:gd name="adj" fmla="val 19231"/>
            </a:avLst>
          </a:prstGeom>
          <a:solidFill>
            <a:srgbClr val="F3E3C3"/>
          </a:solidFill>
          <a:ln w="12700">
            <a:solidFill>
              <a:srgbClr val="F3E3C3"/>
            </a:solidFill>
            <a:prstDash val="solid"/>
          </a:ln>
        </p:spPr>
      </p:sp>
      <p:sp>
        <p:nvSpPr>
          <p:cNvPr id="11" name="Shape 8"/>
          <p:cNvSpPr/>
          <p:nvPr/>
        </p:nvSpPr>
        <p:spPr>
          <a:xfrm>
            <a:off x="3200400" y="1591056"/>
            <a:ext cx="1783080" cy="237744"/>
          </a:xfrm>
          <a:prstGeom prst="roundRect">
            <a:avLst>
              <a:gd name="adj" fmla="val 19231"/>
            </a:avLst>
          </a:prstGeom>
          <a:solidFill>
            <a:srgbClr val="F26B1D"/>
          </a:solidFill>
          <a:ln w="12700">
            <a:solidFill>
              <a:srgbClr val="F26B1D"/>
            </a:solidFill>
            <a:prstDash val="solid"/>
          </a:ln>
        </p:spPr>
      </p:sp>
      <p:sp>
        <p:nvSpPr>
          <p:cNvPr id="12" name="Text 9"/>
          <p:cNvSpPr/>
          <p:nvPr/>
        </p:nvSpPr>
        <p:spPr>
          <a:xfrm>
            <a:off x="5093208" y="1481328"/>
            <a:ext cx="1143000" cy="457200"/>
          </a:xfrm>
          <a:prstGeom prst="rect">
            <a:avLst/>
          </a:prstGeom>
          <a:noFill/>
          <a:ln/>
        </p:spPr>
        <p:txBody>
          <a:bodyPr wrap="square" lIns="0" tIns="0" rIns="0" bIns="0" rtlCol="0" anchor="ctr"/>
          <a:lstStyle/>
          <a:p>
            <a:pPr indent="0" marL="0">
              <a:buNone/>
            </a:pPr>
            <a:r>
              <a:rPr lang="en-US" sz="1200" b="1" dirty="0">
                <a:solidFill>
                  <a:srgbClr val="2B1D0E"/>
                </a:solidFill>
                <a:latin typeface="Segoe UI" pitchFamily="34" charset="0"/>
                <a:ea typeface="Segoe UI" pitchFamily="34" charset="-122"/>
                <a:cs typeface="Segoe UI" pitchFamily="34" charset="-120"/>
              </a:rPr>
              <a:t>12</a:t>
            </a:r>
            <a:endParaRPr lang="en-US" sz="1200" dirty="0"/>
          </a:p>
        </p:txBody>
      </p:sp>
      <p:sp>
        <p:nvSpPr>
          <p:cNvPr id="13" name="Text 10"/>
          <p:cNvSpPr/>
          <p:nvPr/>
        </p:nvSpPr>
        <p:spPr>
          <a:xfrm>
            <a:off x="502920" y="1938528"/>
            <a:ext cx="2560320" cy="457200"/>
          </a:xfrm>
          <a:prstGeom prst="rect">
            <a:avLst/>
          </a:prstGeom>
          <a:noFill/>
          <a:ln/>
        </p:spPr>
        <p:txBody>
          <a:bodyPr wrap="square" lIns="0" tIns="0" rIns="0" bIns="0" rtlCol="0" anchor="ctr"/>
          <a:lstStyle/>
          <a:p>
            <a:pPr indent="0" marL="0">
              <a:buNone/>
            </a:pPr>
            <a:r>
              <a:rPr lang="en-US" sz="1200" dirty="0">
                <a:solidFill>
                  <a:srgbClr val="2B1D0E"/>
                </a:solidFill>
                <a:latin typeface="Segoe UI" pitchFamily="34" charset="0"/>
                <a:ea typeface="Segoe UI" pitchFamily="34" charset="-122"/>
                <a:cs typeface="Segoe UI" pitchFamily="34" charset="-120"/>
              </a:rPr>
              <a:t>Ask friends, family or the group</a:t>
            </a:r>
            <a:endParaRPr lang="en-US" sz="1200" dirty="0"/>
          </a:p>
        </p:txBody>
      </p:sp>
      <p:sp>
        <p:nvSpPr>
          <p:cNvPr id="14" name="Shape 11"/>
          <p:cNvSpPr/>
          <p:nvPr/>
        </p:nvSpPr>
        <p:spPr>
          <a:xfrm>
            <a:off x="3200400" y="2048256"/>
            <a:ext cx="1783080" cy="237744"/>
          </a:xfrm>
          <a:prstGeom prst="roundRect">
            <a:avLst>
              <a:gd name="adj" fmla="val 19231"/>
            </a:avLst>
          </a:prstGeom>
          <a:solidFill>
            <a:srgbClr val="F3E3C3"/>
          </a:solidFill>
          <a:ln w="12700">
            <a:solidFill>
              <a:srgbClr val="F3E3C3"/>
            </a:solidFill>
            <a:prstDash val="solid"/>
          </a:ln>
        </p:spPr>
      </p:sp>
      <p:sp>
        <p:nvSpPr>
          <p:cNvPr id="15" name="Shape 12"/>
          <p:cNvSpPr/>
          <p:nvPr/>
        </p:nvSpPr>
        <p:spPr>
          <a:xfrm>
            <a:off x="3200400" y="2048256"/>
            <a:ext cx="1337310" cy="237744"/>
          </a:xfrm>
          <a:prstGeom prst="roundRect">
            <a:avLst>
              <a:gd name="adj" fmla="val 19231"/>
            </a:avLst>
          </a:prstGeom>
          <a:solidFill>
            <a:srgbClr val="FFC83D"/>
          </a:solidFill>
          <a:ln w="12700">
            <a:solidFill>
              <a:srgbClr val="FFC83D"/>
            </a:solidFill>
            <a:prstDash val="solid"/>
          </a:ln>
        </p:spPr>
      </p:sp>
      <p:sp>
        <p:nvSpPr>
          <p:cNvPr id="16" name="Text 13"/>
          <p:cNvSpPr/>
          <p:nvPr/>
        </p:nvSpPr>
        <p:spPr>
          <a:xfrm>
            <a:off x="5093208" y="1938528"/>
            <a:ext cx="1143000" cy="457200"/>
          </a:xfrm>
          <a:prstGeom prst="rect">
            <a:avLst/>
          </a:prstGeom>
          <a:noFill/>
          <a:ln/>
        </p:spPr>
        <p:txBody>
          <a:bodyPr wrap="square" lIns="0" tIns="0" rIns="0" bIns="0" rtlCol="0" anchor="ctr"/>
          <a:lstStyle/>
          <a:p>
            <a:pPr indent="0" marL="0">
              <a:buNone/>
            </a:pPr>
            <a:r>
              <a:rPr lang="en-US" sz="1200" b="1" dirty="0">
                <a:solidFill>
                  <a:srgbClr val="2B1D0E"/>
                </a:solidFill>
                <a:latin typeface="Segoe UI" pitchFamily="34" charset="0"/>
                <a:ea typeface="Segoe UI" pitchFamily="34" charset="-122"/>
                <a:cs typeface="Segoe UI" pitchFamily="34" charset="-120"/>
              </a:rPr>
              <a:t>9</a:t>
            </a:r>
            <a:endParaRPr lang="en-US" sz="1200" dirty="0"/>
          </a:p>
        </p:txBody>
      </p:sp>
      <p:sp>
        <p:nvSpPr>
          <p:cNvPr id="17" name="Text 14"/>
          <p:cNvSpPr/>
          <p:nvPr/>
        </p:nvSpPr>
        <p:spPr>
          <a:xfrm>
            <a:off x="502920" y="2395728"/>
            <a:ext cx="2560320" cy="457200"/>
          </a:xfrm>
          <a:prstGeom prst="rect">
            <a:avLst/>
          </a:prstGeom>
          <a:noFill/>
          <a:ln/>
        </p:spPr>
        <p:txBody>
          <a:bodyPr wrap="square" lIns="0" tIns="0" rIns="0" bIns="0" rtlCol="0" anchor="ctr"/>
          <a:lstStyle/>
          <a:p>
            <a:pPr indent="0" marL="0">
              <a:buNone/>
            </a:pPr>
            <a:r>
              <a:rPr lang="en-US" sz="1200" dirty="0">
                <a:solidFill>
                  <a:srgbClr val="2B1D0E"/>
                </a:solidFill>
                <a:latin typeface="Segoe UI" pitchFamily="34" charset="0"/>
                <a:ea typeface="Segoe UI" pitchFamily="34" charset="-122"/>
                <a:cs typeface="Segoe UI" pitchFamily="34" charset="-120"/>
              </a:rPr>
              <a:t>Google Maps (reviews, directions)</a:t>
            </a:r>
            <a:endParaRPr lang="en-US" sz="1200" dirty="0"/>
          </a:p>
        </p:txBody>
      </p:sp>
      <p:sp>
        <p:nvSpPr>
          <p:cNvPr id="18" name="Shape 15"/>
          <p:cNvSpPr/>
          <p:nvPr/>
        </p:nvSpPr>
        <p:spPr>
          <a:xfrm>
            <a:off x="3200400" y="2505456"/>
            <a:ext cx="1783080" cy="237744"/>
          </a:xfrm>
          <a:prstGeom prst="roundRect">
            <a:avLst>
              <a:gd name="adj" fmla="val 19231"/>
            </a:avLst>
          </a:prstGeom>
          <a:solidFill>
            <a:srgbClr val="F3E3C3"/>
          </a:solidFill>
          <a:ln w="12700">
            <a:solidFill>
              <a:srgbClr val="F3E3C3"/>
            </a:solidFill>
            <a:prstDash val="solid"/>
          </a:ln>
        </p:spPr>
      </p:sp>
      <p:sp>
        <p:nvSpPr>
          <p:cNvPr id="19" name="Shape 16"/>
          <p:cNvSpPr/>
          <p:nvPr/>
        </p:nvSpPr>
        <p:spPr>
          <a:xfrm>
            <a:off x="3200400" y="2505456"/>
            <a:ext cx="1337310" cy="237744"/>
          </a:xfrm>
          <a:prstGeom prst="roundRect">
            <a:avLst>
              <a:gd name="adj" fmla="val 19231"/>
            </a:avLst>
          </a:prstGeom>
          <a:solidFill>
            <a:srgbClr val="FFC83D"/>
          </a:solidFill>
          <a:ln w="12700">
            <a:solidFill>
              <a:srgbClr val="FFC83D"/>
            </a:solidFill>
            <a:prstDash val="solid"/>
          </a:ln>
        </p:spPr>
      </p:sp>
      <p:sp>
        <p:nvSpPr>
          <p:cNvPr id="20" name="Text 17"/>
          <p:cNvSpPr/>
          <p:nvPr/>
        </p:nvSpPr>
        <p:spPr>
          <a:xfrm>
            <a:off x="5093208" y="2395728"/>
            <a:ext cx="1143000" cy="457200"/>
          </a:xfrm>
          <a:prstGeom prst="rect">
            <a:avLst/>
          </a:prstGeom>
          <a:noFill/>
          <a:ln/>
        </p:spPr>
        <p:txBody>
          <a:bodyPr wrap="square" lIns="0" tIns="0" rIns="0" bIns="0" rtlCol="0" anchor="ctr"/>
          <a:lstStyle/>
          <a:p>
            <a:pPr indent="0" marL="0">
              <a:buNone/>
            </a:pPr>
            <a:r>
              <a:rPr lang="en-US" sz="1200" b="1" dirty="0">
                <a:solidFill>
                  <a:srgbClr val="2B1D0E"/>
                </a:solidFill>
                <a:latin typeface="Segoe UI" pitchFamily="34" charset="0"/>
                <a:ea typeface="Segoe UI" pitchFamily="34" charset="-122"/>
                <a:cs typeface="Segoe UI" pitchFamily="34" charset="-120"/>
              </a:rPr>
              <a:t>9</a:t>
            </a:r>
            <a:endParaRPr lang="en-US" sz="1200" dirty="0"/>
          </a:p>
        </p:txBody>
      </p:sp>
      <p:sp>
        <p:nvSpPr>
          <p:cNvPr id="21" name="Text 18"/>
          <p:cNvSpPr/>
          <p:nvPr/>
        </p:nvSpPr>
        <p:spPr>
          <a:xfrm>
            <a:off x="502920" y="2852928"/>
            <a:ext cx="2560320" cy="457200"/>
          </a:xfrm>
          <a:prstGeom prst="rect">
            <a:avLst/>
          </a:prstGeom>
          <a:noFill/>
          <a:ln/>
        </p:spPr>
        <p:txBody>
          <a:bodyPr wrap="square" lIns="0" tIns="0" rIns="0" bIns="0" rtlCol="0" anchor="ctr"/>
          <a:lstStyle/>
          <a:p>
            <a:pPr indent="0" marL="0">
              <a:buNone/>
            </a:pPr>
            <a:r>
              <a:rPr lang="en-US" sz="1200" dirty="0">
                <a:solidFill>
                  <a:srgbClr val="2B1D0E"/>
                </a:solidFill>
                <a:latin typeface="Segoe UI" pitchFamily="34" charset="0"/>
                <a:ea typeface="Segoe UI" pitchFamily="34" charset="-122"/>
                <a:cs typeface="Segoe UI" pitchFamily="34" charset="-120"/>
              </a:rPr>
              <a:t>Social media (FB, IG, TikTok)</a:t>
            </a:r>
            <a:endParaRPr lang="en-US" sz="1200" dirty="0"/>
          </a:p>
        </p:txBody>
      </p:sp>
      <p:sp>
        <p:nvSpPr>
          <p:cNvPr id="22" name="Shape 19"/>
          <p:cNvSpPr/>
          <p:nvPr/>
        </p:nvSpPr>
        <p:spPr>
          <a:xfrm>
            <a:off x="3200400" y="2962656"/>
            <a:ext cx="1783080" cy="237744"/>
          </a:xfrm>
          <a:prstGeom prst="roundRect">
            <a:avLst>
              <a:gd name="adj" fmla="val 19231"/>
            </a:avLst>
          </a:prstGeom>
          <a:solidFill>
            <a:srgbClr val="F3E3C3"/>
          </a:solidFill>
          <a:ln w="12700">
            <a:solidFill>
              <a:srgbClr val="F3E3C3"/>
            </a:solidFill>
            <a:prstDash val="solid"/>
          </a:ln>
        </p:spPr>
      </p:sp>
      <p:sp>
        <p:nvSpPr>
          <p:cNvPr id="23" name="Shape 20"/>
          <p:cNvSpPr/>
          <p:nvPr/>
        </p:nvSpPr>
        <p:spPr>
          <a:xfrm>
            <a:off x="3200400" y="2962656"/>
            <a:ext cx="1188720" cy="237744"/>
          </a:xfrm>
          <a:prstGeom prst="roundRect">
            <a:avLst>
              <a:gd name="adj" fmla="val 19231"/>
            </a:avLst>
          </a:prstGeom>
          <a:solidFill>
            <a:srgbClr val="FFC83D"/>
          </a:solidFill>
          <a:ln w="12700">
            <a:solidFill>
              <a:srgbClr val="FFC83D"/>
            </a:solidFill>
            <a:prstDash val="solid"/>
          </a:ln>
        </p:spPr>
      </p:sp>
      <p:sp>
        <p:nvSpPr>
          <p:cNvPr id="24" name="Text 21"/>
          <p:cNvSpPr/>
          <p:nvPr/>
        </p:nvSpPr>
        <p:spPr>
          <a:xfrm>
            <a:off x="5093208" y="2852928"/>
            <a:ext cx="1143000" cy="457200"/>
          </a:xfrm>
          <a:prstGeom prst="rect">
            <a:avLst/>
          </a:prstGeom>
          <a:noFill/>
          <a:ln/>
        </p:spPr>
        <p:txBody>
          <a:bodyPr wrap="square" lIns="0" tIns="0" rIns="0" bIns="0" rtlCol="0" anchor="ctr"/>
          <a:lstStyle/>
          <a:p>
            <a:pPr indent="0" marL="0">
              <a:buNone/>
            </a:pPr>
            <a:r>
              <a:rPr lang="en-US" sz="1200" b="1" dirty="0">
                <a:solidFill>
                  <a:srgbClr val="2B1D0E"/>
                </a:solidFill>
                <a:latin typeface="Segoe UI" pitchFamily="34" charset="0"/>
                <a:ea typeface="Segoe UI" pitchFamily="34" charset="-122"/>
                <a:cs typeface="Segoe UI" pitchFamily="34" charset="-120"/>
              </a:rPr>
              <a:t>8</a:t>
            </a:r>
            <a:endParaRPr lang="en-US" sz="1200" dirty="0"/>
          </a:p>
        </p:txBody>
      </p:sp>
      <p:sp>
        <p:nvSpPr>
          <p:cNvPr id="25" name="Text 22"/>
          <p:cNvSpPr/>
          <p:nvPr/>
        </p:nvSpPr>
        <p:spPr>
          <a:xfrm>
            <a:off x="502920" y="3310128"/>
            <a:ext cx="2560320" cy="457200"/>
          </a:xfrm>
          <a:prstGeom prst="rect">
            <a:avLst/>
          </a:prstGeom>
          <a:noFill/>
          <a:ln/>
        </p:spPr>
        <p:txBody>
          <a:bodyPr wrap="square" lIns="0" tIns="0" rIns="0" bIns="0" rtlCol="0" anchor="ctr"/>
          <a:lstStyle/>
          <a:p>
            <a:pPr indent="0" marL="0">
              <a:buNone/>
            </a:pPr>
            <a:r>
              <a:rPr lang="en-US" sz="1200" dirty="0">
                <a:solidFill>
                  <a:srgbClr val="2B1D0E"/>
                </a:solidFill>
                <a:latin typeface="Segoe UI" pitchFamily="34" charset="0"/>
                <a:ea typeface="Segoe UI" pitchFamily="34" charset="-122"/>
                <a:cs typeface="Segoe UI" pitchFamily="34" charset="-120"/>
              </a:rPr>
              <a:t>Go to another place, or wait</a:t>
            </a:r>
            <a:endParaRPr lang="en-US" sz="1200" dirty="0"/>
          </a:p>
        </p:txBody>
      </p:sp>
      <p:sp>
        <p:nvSpPr>
          <p:cNvPr id="26" name="Shape 23"/>
          <p:cNvSpPr/>
          <p:nvPr/>
        </p:nvSpPr>
        <p:spPr>
          <a:xfrm>
            <a:off x="3200400" y="3419856"/>
            <a:ext cx="1783080" cy="237744"/>
          </a:xfrm>
          <a:prstGeom prst="roundRect">
            <a:avLst>
              <a:gd name="adj" fmla="val 19231"/>
            </a:avLst>
          </a:prstGeom>
          <a:solidFill>
            <a:srgbClr val="F3E3C3"/>
          </a:solidFill>
          <a:ln w="12700">
            <a:solidFill>
              <a:srgbClr val="F3E3C3"/>
            </a:solidFill>
            <a:prstDash val="solid"/>
          </a:ln>
        </p:spPr>
      </p:sp>
      <p:sp>
        <p:nvSpPr>
          <p:cNvPr id="27" name="Shape 24"/>
          <p:cNvSpPr/>
          <p:nvPr/>
        </p:nvSpPr>
        <p:spPr>
          <a:xfrm>
            <a:off x="3200400" y="3419856"/>
            <a:ext cx="1188720" cy="237744"/>
          </a:xfrm>
          <a:prstGeom prst="roundRect">
            <a:avLst>
              <a:gd name="adj" fmla="val 19231"/>
            </a:avLst>
          </a:prstGeom>
          <a:solidFill>
            <a:srgbClr val="FFC83D"/>
          </a:solidFill>
          <a:ln w="12700">
            <a:solidFill>
              <a:srgbClr val="FFC83D"/>
            </a:solidFill>
            <a:prstDash val="solid"/>
          </a:ln>
        </p:spPr>
      </p:sp>
      <p:sp>
        <p:nvSpPr>
          <p:cNvPr id="28" name="Text 25"/>
          <p:cNvSpPr/>
          <p:nvPr/>
        </p:nvSpPr>
        <p:spPr>
          <a:xfrm>
            <a:off x="5093208" y="3310128"/>
            <a:ext cx="1143000" cy="457200"/>
          </a:xfrm>
          <a:prstGeom prst="rect">
            <a:avLst/>
          </a:prstGeom>
          <a:noFill/>
          <a:ln/>
        </p:spPr>
        <p:txBody>
          <a:bodyPr wrap="square" lIns="0" tIns="0" rIns="0" bIns="0" rtlCol="0" anchor="ctr"/>
          <a:lstStyle/>
          <a:p>
            <a:pPr indent="0" marL="0">
              <a:buNone/>
            </a:pPr>
            <a:r>
              <a:rPr lang="en-US" sz="1200" b="1" dirty="0">
                <a:solidFill>
                  <a:srgbClr val="2B1D0E"/>
                </a:solidFill>
                <a:latin typeface="Segoe UI" pitchFamily="34" charset="0"/>
                <a:ea typeface="Segoe UI" pitchFamily="34" charset="-122"/>
                <a:cs typeface="Segoe UI" pitchFamily="34" charset="-120"/>
              </a:rPr>
              <a:t>8</a:t>
            </a:r>
            <a:endParaRPr lang="en-US" sz="1200" dirty="0"/>
          </a:p>
        </p:txBody>
      </p:sp>
      <p:sp>
        <p:nvSpPr>
          <p:cNvPr id="29" name="Text 26"/>
          <p:cNvSpPr/>
          <p:nvPr/>
        </p:nvSpPr>
        <p:spPr>
          <a:xfrm>
            <a:off x="502920" y="3767328"/>
            <a:ext cx="2560320" cy="457200"/>
          </a:xfrm>
          <a:prstGeom prst="rect">
            <a:avLst/>
          </a:prstGeom>
          <a:noFill/>
          <a:ln/>
        </p:spPr>
        <p:txBody>
          <a:bodyPr wrap="square" lIns="0" tIns="0" rIns="0" bIns="0" rtlCol="0" anchor="ctr"/>
          <a:lstStyle/>
          <a:p>
            <a:pPr indent="0" marL="0">
              <a:buNone/>
            </a:pPr>
            <a:r>
              <a:rPr lang="en-US" sz="1200" dirty="0">
                <a:solidFill>
                  <a:srgbClr val="2B1D0E"/>
                </a:solidFill>
                <a:latin typeface="Segoe UI" pitchFamily="34" charset="0"/>
                <a:ea typeface="Segoe UI" pitchFamily="34" charset="-122"/>
                <a:cs typeface="Segoe UI" pitchFamily="34" charset="-120"/>
              </a:rPr>
              <a:t>Check the shop onsite</a:t>
            </a:r>
            <a:endParaRPr lang="en-US" sz="1200" dirty="0"/>
          </a:p>
        </p:txBody>
      </p:sp>
      <p:sp>
        <p:nvSpPr>
          <p:cNvPr id="30" name="Shape 27"/>
          <p:cNvSpPr/>
          <p:nvPr/>
        </p:nvSpPr>
        <p:spPr>
          <a:xfrm>
            <a:off x="3200400" y="3877056"/>
            <a:ext cx="1783080" cy="237744"/>
          </a:xfrm>
          <a:prstGeom prst="roundRect">
            <a:avLst>
              <a:gd name="adj" fmla="val 19231"/>
            </a:avLst>
          </a:prstGeom>
          <a:solidFill>
            <a:srgbClr val="F3E3C3"/>
          </a:solidFill>
          <a:ln w="12700">
            <a:solidFill>
              <a:srgbClr val="F3E3C3"/>
            </a:solidFill>
            <a:prstDash val="solid"/>
          </a:ln>
        </p:spPr>
      </p:sp>
      <p:sp>
        <p:nvSpPr>
          <p:cNvPr id="31" name="Shape 28"/>
          <p:cNvSpPr/>
          <p:nvPr/>
        </p:nvSpPr>
        <p:spPr>
          <a:xfrm>
            <a:off x="3200400" y="3877056"/>
            <a:ext cx="445770" cy="237744"/>
          </a:xfrm>
          <a:prstGeom prst="roundRect">
            <a:avLst>
              <a:gd name="adj" fmla="val 19231"/>
            </a:avLst>
          </a:prstGeom>
          <a:solidFill>
            <a:srgbClr val="FFC83D"/>
          </a:solidFill>
          <a:ln w="12700">
            <a:solidFill>
              <a:srgbClr val="FFC83D"/>
            </a:solidFill>
            <a:prstDash val="solid"/>
          </a:ln>
        </p:spPr>
      </p:sp>
      <p:sp>
        <p:nvSpPr>
          <p:cNvPr id="32" name="Text 29"/>
          <p:cNvSpPr/>
          <p:nvPr/>
        </p:nvSpPr>
        <p:spPr>
          <a:xfrm>
            <a:off x="5093208" y="3767328"/>
            <a:ext cx="1143000" cy="457200"/>
          </a:xfrm>
          <a:prstGeom prst="rect">
            <a:avLst/>
          </a:prstGeom>
          <a:noFill/>
          <a:ln/>
        </p:spPr>
        <p:txBody>
          <a:bodyPr wrap="square" lIns="0" tIns="0" rIns="0" bIns="0" rtlCol="0" anchor="ctr"/>
          <a:lstStyle/>
          <a:p>
            <a:pPr indent="0" marL="0">
              <a:buNone/>
            </a:pPr>
            <a:r>
              <a:rPr lang="en-US" sz="1200" b="1" dirty="0">
                <a:solidFill>
                  <a:srgbClr val="2B1D0E"/>
                </a:solidFill>
                <a:latin typeface="Segoe UI" pitchFamily="34" charset="0"/>
                <a:ea typeface="Segoe UI" pitchFamily="34" charset="-122"/>
                <a:cs typeface="Segoe UI" pitchFamily="34" charset="-120"/>
              </a:rPr>
              <a:t>3</a:t>
            </a:r>
            <a:endParaRPr lang="en-US" sz="1200" dirty="0"/>
          </a:p>
        </p:txBody>
      </p:sp>
      <p:sp>
        <p:nvSpPr>
          <p:cNvPr id="33" name="Text 30"/>
          <p:cNvSpPr/>
          <p:nvPr/>
        </p:nvSpPr>
        <p:spPr>
          <a:xfrm>
            <a:off x="502920" y="4315968"/>
            <a:ext cx="4937760" cy="365760"/>
          </a:xfrm>
          <a:prstGeom prst="rect">
            <a:avLst/>
          </a:prstGeom>
          <a:noFill/>
          <a:ln/>
        </p:spPr>
        <p:txBody>
          <a:bodyPr wrap="square" lIns="0" tIns="0" rIns="0" bIns="0" rtlCol="0" anchor="t"/>
          <a:lstStyle/>
          <a:p>
            <a:pPr indent="0" marL="0">
              <a:buNone/>
            </a:pPr>
            <a:r>
              <a:rPr lang="en-US" sz="950" i="1" dirty="0">
                <a:solidFill>
                  <a:srgbClr val="7A6650"/>
                </a:solidFill>
                <a:latin typeface="Segoe UI" pitchFamily="34" charset="0"/>
                <a:ea typeface="Segoe UI" pitchFamily="34" charset="-122"/>
                <a:cs typeface="Segoe UI" pitchFamily="34" charset="-120"/>
              </a:rPr>
              <a:t>Number of interviewees, out of 20 (one had no answer noted).</a:t>
            </a:r>
            <a:endParaRPr lang="en-US" sz="950" dirty="0"/>
          </a:p>
        </p:txBody>
      </p:sp>
      <p:sp>
        <p:nvSpPr>
          <p:cNvPr id="34" name="Shape 31"/>
          <p:cNvSpPr/>
          <p:nvPr/>
        </p:nvSpPr>
        <p:spPr>
          <a:xfrm>
            <a:off x="5715000" y="1188720"/>
            <a:ext cx="2926080" cy="3246120"/>
          </a:xfrm>
          <a:prstGeom prst="roundRect">
            <a:avLst>
              <a:gd name="adj" fmla="val 3125"/>
            </a:avLst>
          </a:prstGeom>
          <a:solidFill>
            <a:srgbClr val="FFFFFF"/>
          </a:solidFill>
          <a:ln w="9525">
            <a:solidFill>
              <a:srgbClr val="EAD9B8"/>
            </a:solidFill>
            <a:prstDash val="solid"/>
          </a:ln>
        </p:spPr>
      </p:sp>
      <p:sp>
        <p:nvSpPr>
          <p:cNvPr id="35" name="Text 32"/>
          <p:cNvSpPr/>
          <p:nvPr/>
        </p:nvSpPr>
        <p:spPr>
          <a:xfrm>
            <a:off x="5897880" y="1325880"/>
            <a:ext cx="2560320" cy="502920"/>
          </a:xfrm>
          <a:prstGeom prst="rect">
            <a:avLst/>
          </a:prstGeom>
          <a:noFill/>
          <a:ln/>
        </p:spPr>
        <p:txBody>
          <a:bodyPr wrap="square" lIns="0" tIns="0" rIns="0" bIns="0" rtlCol="0" anchor="t"/>
          <a:lstStyle/>
          <a:p>
            <a:pPr indent="0" marL="0">
              <a:buNone/>
            </a:pPr>
            <a:r>
              <a:rPr lang="en-US" sz="1350" b="1" dirty="0">
                <a:solidFill>
                  <a:srgbClr val="2B1D0E"/>
                </a:solidFill>
                <a:latin typeface="Segoe UI" pitchFamily="34" charset="0"/>
                <a:ea typeface="Segoe UI" pitchFamily="34" charset="-122"/>
                <a:cs typeface="Segoe UI" pitchFamily="34" charset="-120"/>
              </a:rPr>
              <a:t>What makes a review believable</a:t>
            </a:r>
            <a:endParaRPr lang="en-US" sz="1350" dirty="0"/>
          </a:p>
        </p:txBody>
      </p:sp>
      <p:sp>
        <p:nvSpPr>
          <p:cNvPr id="36" name="Text 33"/>
          <p:cNvSpPr/>
          <p:nvPr/>
        </p:nvSpPr>
        <p:spPr>
          <a:xfrm>
            <a:off x="5897880" y="1901952"/>
            <a:ext cx="2560320" cy="365760"/>
          </a:xfrm>
          <a:prstGeom prst="rect">
            <a:avLst/>
          </a:prstGeom>
          <a:noFill/>
          <a:ln/>
        </p:spPr>
        <p:txBody>
          <a:bodyPr wrap="square" lIns="0" tIns="0" rIns="0" bIns="0" rtlCol="0" anchor="t"/>
          <a:lstStyle/>
          <a:p>
            <a:pPr indent="0" marL="0">
              <a:buNone/>
            </a:pPr>
            <a:r>
              <a:rPr lang="en-US" sz="2000" b="1" dirty="0">
                <a:solidFill>
                  <a:srgbClr val="F26B1D"/>
                </a:solidFill>
                <a:latin typeface="Segoe UI" pitchFamily="34" charset="0"/>
                <a:ea typeface="Segoe UI" pitchFamily="34" charset="-122"/>
                <a:cs typeface="Segoe UI" pitchFamily="34" charset="-120"/>
              </a:rPr>
              <a:t>3 of 5</a:t>
            </a:r>
            <a:endParaRPr lang="en-US" sz="2000" dirty="0"/>
          </a:p>
        </p:txBody>
      </p:sp>
      <p:sp>
        <p:nvSpPr>
          <p:cNvPr id="37" name="Text 34"/>
          <p:cNvSpPr/>
          <p:nvPr/>
        </p:nvSpPr>
        <p:spPr>
          <a:xfrm>
            <a:off x="5897880" y="2267712"/>
            <a:ext cx="2560320" cy="457200"/>
          </a:xfrm>
          <a:prstGeom prst="rect">
            <a:avLst/>
          </a:prstGeom>
          <a:noFill/>
          <a:ln/>
        </p:spPr>
        <p:txBody>
          <a:bodyPr wrap="square" lIns="0" tIns="0" rIns="0" bIns="0" rtlCol="0" anchor="t"/>
          <a:lstStyle/>
          <a:p>
            <a:pPr indent="0" marL="0">
              <a:buNone/>
            </a:pPr>
            <a:r>
              <a:rPr lang="en-US" sz="1150" dirty="0">
                <a:solidFill>
                  <a:srgbClr val="2B1D0E"/>
                </a:solidFill>
                <a:latin typeface="Segoe UI" pitchFamily="34" charset="0"/>
                <a:ea typeface="Segoe UI" pitchFamily="34" charset="-122"/>
                <a:cs typeface="Segoe UI" pitchFamily="34" charset="-120"/>
              </a:rPr>
              <a:t>trust reviews that are first-hand or detailed</a:t>
            </a:r>
            <a:endParaRPr lang="en-US" sz="1150" dirty="0"/>
          </a:p>
        </p:txBody>
      </p:sp>
      <p:sp>
        <p:nvSpPr>
          <p:cNvPr id="38" name="Text 35"/>
          <p:cNvSpPr/>
          <p:nvPr/>
        </p:nvSpPr>
        <p:spPr>
          <a:xfrm>
            <a:off x="5897880" y="2816352"/>
            <a:ext cx="2560320" cy="365760"/>
          </a:xfrm>
          <a:prstGeom prst="rect">
            <a:avLst/>
          </a:prstGeom>
          <a:noFill/>
          <a:ln/>
        </p:spPr>
        <p:txBody>
          <a:bodyPr wrap="square" lIns="0" tIns="0" rIns="0" bIns="0" rtlCol="0" anchor="t"/>
          <a:lstStyle/>
          <a:p>
            <a:pPr indent="0" marL="0">
              <a:buNone/>
            </a:pPr>
            <a:r>
              <a:rPr lang="en-US" sz="2000" b="1" dirty="0">
                <a:solidFill>
                  <a:srgbClr val="F26B1D"/>
                </a:solidFill>
                <a:latin typeface="Segoe UI" pitchFamily="34" charset="0"/>
                <a:ea typeface="Segoe UI" pitchFamily="34" charset="-122"/>
                <a:cs typeface="Segoe UI" pitchFamily="34" charset="-120"/>
              </a:rPr>
              <a:t>2 of 5</a:t>
            </a:r>
            <a:endParaRPr lang="en-US" sz="2000" dirty="0"/>
          </a:p>
        </p:txBody>
      </p:sp>
      <p:sp>
        <p:nvSpPr>
          <p:cNvPr id="39" name="Text 36"/>
          <p:cNvSpPr/>
          <p:nvPr/>
        </p:nvSpPr>
        <p:spPr>
          <a:xfrm>
            <a:off x="5897880" y="3182112"/>
            <a:ext cx="2560320" cy="274320"/>
          </a:xfrm>
          <a:prstGeom prst="rect">
            <a:avLst/>
          </a:prstGeom>
          <a:noFill/>
          <a:ln/>
        </p:spPr>
        <p:txBody>
          <a:bodyPr wrap="square" lIns="0" tIns="0" rIns="0" bIns="0" rtlCol="0" anchor="t"/>
          <a:lstStyle/>
          <a:p>
            <a:pPr indent="0" marL="0">
              <a:buNone/>
            </a:pPr>
            <a:r>
              <a:rPr lang="en-US" sz="1150" dirty="0">
                <a:solidFill>
                  <a:srgbClr val="2B1D0E"/>
                </a:solidFill>
                <a:latin typeface="Segoe UI" pitchFamily="34" charset="0"/>
                <a:ea typeface="Segoe UI" pitchFamily="34" charset="-122"/>
                <a:cs typeface="Segoe UI" pitchFamily="34" charset="-120"/>
              </a:rPr>
              <a:t>distrust reviews that look paid</a:t>
            </a:r>
            <a:endParaRPr lang="en-US" sz="1150" dirty="0"/>
          </a:p>
        </p:txBody>
      </p:sp>
      <p:sp>
        <p:nvSpPr>
          <p:cNvPr id="40" name="Text 37"/>
          <p:cNvSpPr/>
          <p:nvPr/>
        </p:nvSpPr>
        <p:spPr>
          <a:xfrm>
            <a:off x="5897880" y="3931920"/>
            <a:ext cx="2560320" cy="365760"/>
          </a:xfrm>
          <a:prstGeom prst="rect">
            <a:avLst/>
          </a:prstGeom>
          <a:noFill/>
          <a:ln/>
        </p:spPr>
        <p:txBody>
          <a:bodyPr wrap="square" lIns="0" tIns="0" rIns="0" bIns="0" rtlCol="0" anchor="t"/>
          <a:lstStyle/>
          <a:p>
            <a:pPr indent="0" marL="0">
              <a:buNone/>
            </a:pPr>
            <a:r>
              <a:rPr lang="en-US" sz="950" i="1" dirty="0">
                <a:solidFill>
                  <a:srgbClr val="7A6650"/>
                </a:solidFill>
                <a:latin typeface="Segoe UI" pitchFamily="34" charset="0"/>
                <a:ea typeface="Segoe UI" pitchFamily="34" charset="-122"/>
                <a:cs typeface="Segoe UI" pitchFamily="34" charset="-120"/>
              </a:rPr>
              <a:t>From the 5 interviews with full transcripts.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6E5"/>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26B1D"/>
          </a:solidFill>
          <a:ln w="12700">
            <a:solidFill>
              <a:srgbClr val="F26B1D"/>
            </a:solidFill>
            <a:prstDash val="solid"/>
          </a:ln>
        </p:spPr>
      </p:sp>
      <p:sp>
        <p:nvSpPr>
          <p:cNvPr id="3" name="Text 1"/>
          <p:cNvSpPr/>
          <p:nvPr/>
        </p:nvSpPr>
        <p:spPr>
          <a:xfrm>
            <a:off x="502920" y="219456"/>
            <a:ext cx="8138160" cy="237744"/>
          </a:xfrm>
          <a:prstGeom prst="rect">
            <a:avLst/>
          </a:prstGeom>
          <a:noFill/>
          <a:ln/>
        </p:spPr>
        <p:txBody>
          <a:bodyPr wrap="square" lIns="0" tIns="0" rIns="0" bIns="0" rtlCol="0" anchor="ctr"/>
          <a:lstStyle/>
          <a:p>
            <a:pPr indent="0" marL="0">
              <a:buNone/>
            </a:pPr>
            <a:r>
              <a:rPr lang="en-US" sz="1050" b="1" spc="200" kern="0" dirty="0">
                <a:solidFill>
                  <a:srgbClr val="F26B1D"/>
                </a:solidFill>
                <a:latin typeface="Segoe UI" pitchFamily="34" charset="0"/>
                <a:ea typeface="Segoe UI" pitchFamily="34" charset="-122"/>
                <a:cs typeface="Segoe UI" pitchFamily="34" charset="-120"/>
              </a:rPr>
              <a:t>FINDINGS · REACTION TO KENI</a:t>
            </a:r>
            <a:endParaRPr lang="en-US" sz="1050" dirty="0"/>
          </a:p>
        </p:txBody>
      </p:sp>
      <p:sp>
        <p:nvSpPr>
          <p:cNvPr id="4" name="Text 2"/>
          <p:cNvSpPr/>
          <p:nvPr/>
        </p:nvSpPr>
        <p:spPr>
          <a:xfrm>
            <a:off x="502920" y="457200"/>
            <a:ext cx="8138160" cy="685800"/>
          </a:xfrm>
          <a:prstGeom prst="rect">
            <a:avLst/>
          </a:prstGeom>
          <a:noFill/>
          <a:ln/>
        </p:spPr>
        <p:txBody>
          <a:bodyPr wrap="square" lIns="0" tIns="0" rIns="0" bIns="0" rtlCol="0" anchor="t">
            <a:normAutofit/>
          </a:bodyPr>
          <a:lstStyle/>
          <a:p>
            <a:pPr indent="0" marL="0">
              <a:buNone/>
            </a:pPr>
            <a:r>
              <a:rPr lang="en-US" sz="2000" b="1" dirty="0">
                <a:solidFill>
                  <a:srgbClr val="2B1D0E"/>
                </a:solidFill>
                <a:latin typeface="Segoe UI" pitchFamily="34" charset="0"/>
                <a:ea typeface="Segoe UI" pitchFamily="34" charset="-122"/>
                <a:cs typeface="Segoe UI" pitchFamily="34" charset="-120"/>
              </a:rPr>
              <a:t>Everyone said they would use Keni, and told us what to fix</a:t>
            </a:r>
            <a:endParaRPr lang="en-US" sz="2000" dirty="0"/>
          </a:p>
        </p:txBody>
      </p:sp>
      <p:sp>
        <p:nvSpPr>
          <p:cNvPr id="5" name="Text 3"/>
          <p:cNvSpPr/>
          <p:nvPr/>
        </p:nvSpPr>
        <p:spPr>
          <a:xfrm>
            <a:off x="502920" y="4791456"/>
            <a:ext cx="4572000" cy="219456"/>
          </a:xfrm>
          <a:prstGeom prst="rect">
            <a:avLst/>
          </a:prstGeom>
          <a:noFill/>
          <a:ln/>
        </p:spPr>
        <p:txBody>
          <a:bodyPr wrap="square" lIns="0" tIns="0" rIns="0" bIns="0" rtlCol="0" anchor="ctr"/>
          <a:lstStyle/>
          <a:p>
            <a:pPr indent="0" marL="0">
              <a:buNone/>
            </a:pPr>
            <a:r>
              <a:rPr lang="en-US" sz="900" dirty="0">
                <a:solidFill>
                  <a:srgbClr val="7A6650"/>
                </a:solidFill>
                <a:latin typeface="Segoe UI" pitchFamily="34" charset="0"/>
                <a:ea typeface="Segoe UI" pitchFamily="34" charset="-122"/>
                <a:cs typeface="Segoe UI" pitchFamily="34" charset="-120"/>
              </a:rPr>
              <a:t>Keni · Validation results</a:t>
            </a:r>
            <a:endParaRPr lang="en-US" sz="900" dirty="0"/>
          </a:p>
        </p:txBody>
      </p:sp>
      <p:sp>
        <p:nvSpPr>
          <p:cNvPr id="6" name="Text 4"/>
          <p:cNvSpPr/>
          <p:nvPr/>
        </p:nvSpPr>
        <p:spPr>
          <a:xfrm>
            <a:off x="7726680" y="4791456"/>
            <a:ext cx="914400" cy="219456"/>
          </a:xfrm>
          <a:prstGeom prst="rect">
            <a:avLst/>
          </a:prstGeom>
          <a:noFill/>
          <a:ln/>
        </p:spPr>
        <p:txBody>
          <a:bodyPr wrap="square" lIns="0" tIns="0" rIns="0" bIns="0" rtlCol="0" anchor="ctr"/>
          <a:lstStyle/>
          <a:p>
            <a:pPr algn="r" indent="0" marL="0">
              <a:buNone/>
            </a:pPr>
            <a:r>
              <a:rPr lang="en-US" sz="900" dirty="0">
                <a:solidFill>
                  <a:srgbClr val="7A6650"/>
                </a:solidFill>
                <a:latin typeface="Segoe UI" pitchFamily="34" charset="0"/>
                <a:ea typeface="Segoe UI" pitchFamily="34" charset="-122"/>
                <a:cs typeface="Segoe UI" pitchFamily="34" charset="-120"/>
              </a:rPr>
              <a:t>5 / 7</a:t>
            </a:r>
            <a:endParaRPr lang="en-US" sz="900" dirty="0"/>
          </a:p>
        </p:txBody>
      </p:sp>
      <p:sp>
        <p:nvSpPr>
          <p:cNvPr id="8" name="Shape 5"/>
          <p:cNvSpPr/>
          <p:nvPr/>
        </p:nvSpPr>
        <p:spPr>
          <a:xfrm>
            <a:off x="502920" y="1234440"/>
            <a:ext cx="2377440" cy="1874520"/>
          </a:xfrm>
          <a:prstGeom prst="roundRect">
            <a:avLst>
              <a:gd name="adj" fmla="val 4878"/>
            </a:avLst>
          </a:prstGeom>
          <a:solidFill>
            <a:srgbClr val="FFC83D"/>
          </a:solidFill>
          <a:ln w="9525">
            <a:solidFill>
              <a:srgbClr val="EAD9B8"/>
            </a:solidFill>
            <a:prstDash val="solid"/>
          </a:ln>
        </p:spPr>
      </p:sp>
      <p:sp>
        <p:nvSpPr>
          <p:cNvPr id="9" name="Text 6"/>
          <p:cNvSpPr/>
          <p:nvPr/>
        </p:nvSpPr>
        <p:spPr>
          <a:xfrm>
            <a:off x="502920" y="1371600"/>
            <a:ext cx="2377440" cy="777240"/>
          </a:xfrm>
          <a:prstGeom prst="rect">
            <a:avLst/>
          </a:prstGeom>
          <a:noFill/>
          <a:ln/>
        </p:spPr>
        <p:txBody>
          <a:bodyPr wrap="square" lIns="0" tIns="0" rIns="0" bIns="0" rtlCol="0" anchor="ctr"/>
          <a:lstStyle/>
          <a:p>
            <a:pPr algn="ctr" indent="0" marL="0">
              <a:buNone/>
            </a:pPr>
            <a:r>
              <a:rPr lang="en-US" sz="3800" b="1" dirty="0">
                <a:solidFill>
                  <a:srgbClr val="2B1D0E"/>
                </a:solidFill>
                <a:latin typeface="Segoe UI" pitchFamily="34" charset="0"/>
                <a:ea typeface="Segoe UI" pitchFamily="34" charset="-122"/>
                <a:cs typeface="Segoe UI" pitchFamily="34" charset="-120"/>
              </a:rPr>
              <a:t>20 of 20</a:t>
            </a:r>
            <a:endParaRPr lang="en-US" sz="3800" dirty="0"/>
          </a:p>
        </p:txBody>
      </p:sp>
      <p:sp>
        <p:nvSpPr>
          <p:cNvPr id="10" name="Text 7"/>
          <p:cNvSpPr/>
          <p:nvPr/>
        </p:nvSpPr>
        <p:spPr>
          <a:xfrm>
            <a:off x="640080" y="2176272"/>
            <a:ext cx="2103120" cy="274320"/>
          </a:xfrm>
          <a:prstGeom prst="rect">
            <a:avLst/>
          </a:prstGeom>
          <a:noFill/>
          <a:ln/>
        </p:spPr>
        <p:txBody>
          <a:bodyPr wrap="square" lIns="0" tIns="0" rIns="0" bIns="0" rtlCol="0" anchor="t"/>
          <a:lstStyle/>
          <a:p>
            <a:pPr algn="ctr" indent="0" marL="0">
              <a:buNone/>
            </a:pPr>
            <a:r>
              <a:rPr lang="en-US" sz="1250" dirty="0">
                <a:solidFill>
                  <a:srgbClr val="2B1D0E"/>
                </a:solidFill>
                <a:latin typeface="Segoe UI" pitchFamily="34" charset="0"/>
                <a:ea typeface="Segoe UI" pitchFamily="34" charset="-122"/>
                <a:cs typeface="Segoe UI" pitchFamily="34" charset="-120"/>
              </a:rPr>
              <a:t>said they would use Keni</a:t>
            </a:r>
            <a:endParaRPr lang="en-US" sz="1250" dirty="0"/>
          </a:p>
        </p:txBody>
      </p:sp>
      <p:sp>
        <p:nvSpPr>
          <p:cNvPr id="11" name="Text 8"/>
          <p:cNvSpPr/>
          <p:nvPr/>
        </p:nvSpPr>
        <p:spPr>
          <a:xfrm>
            <a:off x="548640" y="2578608"/>
            <a:ext cx="2286000" cy="274320"/>
          </a:xfrm>
          <a:prstGeom prst="rect">
            <a:avLst/>
          </a:prstGeom>
          <a:noFill/>
          <a:ln/>
        </p:spPr>
        <p:txBody>
          <a:bodyPr wrap="square" lIns="0" tIns="0" rIns="0" bIns="0" rtlCol="0" anchor="t"/>
          <a:lstStyle/>
          <a:p>
            <a:pPr algn="ctr" indent="0" marL="0">
              <a:buNone/>
            </a:pPr>
            <a:r>
              <a:rPr lang="en-US" sz="1000" dirty="0">
                <a:solidFill>
                  <a:srgbClr val="2B1D0E"/>
                </a:solidFill>
                <a:latin typeface="Segoe UI" pitchFamily="34" charset="0"/>
                <a:ea typeface="Segoe UI" pitchFamily="34" charset="-122"/>
                <a:cs typeface="Segoe UI" pitchFamily="34" charset="-120"/>
              </a:rPr>
              <a:t>20 of 20 are OK with a follow-up</a:t>
            </a:r>
            <a:endParaRPr lang="en-US" sz="1000" dirty="0"/>
          </a:p>
        </p:txBody>
      </p:sp>
      <p:sp>
        <p:nvSpPr>
          <p:cNvPr id="12" name="Shape 9"/>
          <p:cNvSpPr/>
          <p:nvPr/>
        </p:nvSpPr>
        <p:spPr>
          <a:xfrm>
            <a:off x="3108960" y="1234440"/>
            <a:ext cx="2651760" cy="1874520"/>
          </a:xfrm>
          <a:prstGeom prst="roundRect">
            <a:avLst>
              <a:gd name="adj" fmla="val 4878"/>
            </a:avLst>
          </a:prstGeom>
          <a:solidFill>
            <a:srgbClr val="FFFFFF"/>
          </a:solidFill>
          <a:ln w="9525">
            <a:solidFill>
              <a:srgbClr val="EAD9B8"/>
            </a:solidFill>
            <a:prstDash val="solid"/>
          </a:ln>
        </p:spPr>
      </p:sp>
      <p:sp>
        <p:nvSpPr>
          <p:cNvPr id="13" name="Text 10"/>
          <p:cNvSpPr/>
          <p:nvPr/>
        </p:nvSpPr>
        <p:spPr>
          <a:xfrm>
            <a:off x="3291840" y="1371600"/>
            <a:ext cx="2286000" cy="237744"/>
          </a:xfrm>
          <a:prstGeom prst="rect">
            <a:avLst/>
          </a:prstGeom>
          <a:noFill/>
          <a:ln/>
        </p:spPr>
        <p:txBody>
          <a:bodyPr wrap="square" lIns="0" tIns="0" rIns="0" bIns="0" rtlCol="0" anchor="t"/>
          <a:lstStyle/>
          <a:p>
            <a:pPr indent="0" marL="0">
              <a:buNone/>
            </a:pPr>
            <a:r>
              <a:rPr lang="en-US" sz="1000" b="1" spc="150" kern="0" dirty="0">
                <a:solidFill>
                  <a:srgbClr val="F26B1D"/>
                </a:solidFill>
                <a:latin typeface="Segoe UI" pitchFamily="34" charset="0"/>
                <a:ea typeface="Segoe UI" pitchFamily="34" charset="-122"/>
                <a:cs typeface="Segoe UI" pitchFamily="34" charset="-120"/>
              </a:rPr>
              <a:t>WHAT THEY LIKED</a:t>
            </a:r>
            <a:endParaRPr lang="en-US" sz="1000" dirty="0"/>
          </a:p>
        </p:txBody>
      </p:sp>
      <p:sp>
        <p:nvSpPr>
          <p:cNvPr id="14" name="Text 11"/>
          <p:cNvSpPr/>
          <p:nvPr/>
        </p:nvSpPr>
        <p:spPr>
          <a:xfrm>
            <a:off x="3291840" y="1691640"/>
            <a:ext cx="2286000" cy="12801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2B1D0E"/>
                </a:solidFill>
                <a:latin typeface="Segoe UI" pitchFamily="34" charset="0"/>
                <a:ea typeface="Segoe UI" pitchFamily="34" charset="-122"/>
                <a:cs typeface="Segoe UI" pitchFamily="34" charset="-120"/>
              </a:rPr>
              <a:t>Vibe selector</a:t>
            </a:r>
            <a:endParaRPr lang="en-US" sz="1300" dirty="0"/>
          </a:p>
          <a:p>
            <a:pPr marL="342900" indent="-342900">
              <a:spcAft>
                <a:spcPts val="600"/>
              </a:spcAft>
              <a:buSzPct val="100000"/>
              <a:buChar char="•"/>
            </a:pPr>
            <a:r>
              <a:rPr lang="en-US" sz="1300" dirty="0">
                <a:solidFill>
                  <a:srgbClr val="2B1D0E"/>
                </a:solidFill>
                <a:latin typeface="Segoe UI" pitchFamily="34" charset="0"/>
                <a:ea typeface="Segoe UI" pitchFamily="34" charset="-122"/>
                <a:cs typeface="Segoe UI" pitchFamily="34" charset="-120"/>
              </a:rPr>
              <a:t>Barkada mode</a:t>
            </a:r>
            <a:endParaRPr lang="en-US" sz="1300" dirty="0"/>
          </a:p>
          <a:p>
            <a:pPr marL="342900" indent="-342900">
              <a:spcAft>
                <a:spcPts val="600"/>
              </a:spcAft>
              <a:buSzPct val="100000"/>
              <a:buChar char="•"/>
            </a:pPr>
            <a:r>
              <a:rPr lang="en-US" sz="1300" dirty="0">
                <a:solidFill>
                  <a:srgbClr val="2B1D0E"/>
                </a:solidFill>
                <a:latin typeface="Segoe UI" pitchFamily="34" charset="0"/>
                <a:ea typeface="Segoe UI" pitchFamily="34" charset="-122"/>
                <a:cs typeface="Segoe UI" pitchFamily="34" charset="-120"/>
              </a:rPr>
              <a:t>Surprise Me</a:t>
            </a:r>
            <a:endParaRPr lang="en-US" sz="1300" dirty="0"/>
          </a:p>
        </p:txBody>
      </p:sp>
      <p:sp>
        <p:nvSpPr>
          <p:cNvPr id="15" name="Shape 12"/>
          <p:cNvSpPr/>
          <p:nvPr/>
        </p:nvSpPr>
        <p:spPr>
          <a:xfrm>
            <a:off x="5989320" y="1234440"/>
            <a:ext cx="2651760" cy="1874520"/>
          </a:xfrm>
          <a:prstGeom prst="roundRect">
            <a:avLst>
              <a:gd name="adj" fmla="val 4878"/>
            </a:avLst>
          </a:prstGeom>
          <a:solidFill>
            <a:srgbClr val="FFFFFF"/>
          </a:solidFill>
          <a:ln w="9525">
            <a:solidFill>
              <a:srgbClr val="EAD9B8"/>
            </a:solidFill>
            <a:prstDash val="solid"/>
          </a:ln>
        </p:spPr>
      </p:sp>
      <p:sp>
        <p:nvSpPr>
          <p:cNvPr id="16" name="Text 13"/>
          <p:cNvSpPr/>
          <p:nvPr/>
        </p:nvSpPr>
        <p:spPr>
          <a:xfrm>
            <a:off x="6172200" y="1371600"/>
            <a:ext cx="2286000" cy="237744"/>
          </a:xfrm>
          <a:prstGeom prst="rect">
            <a:avLst/>
          </a:prstGeom>
          <a:noFill/>
          <a:ln/>
        </p:spPr>
        <p:txBody>
          <a:bodyPr wrap="square" lIns="0" tIns="0" rIns="0" bIns="0" rtlCol="0" anchor="t"/>
          <a:lstStyle/>
          <a:p>
            <a:pPr indent="0" marL="0">
              <a:buNone/>
            </a:pPr>
            <a:r>
              <a:rPr lang="en-US" sz="1000" b="1" spc="150" kern="0" dirty="0">
                <a:solidFill>
                  <a:srgbClr val="F26B1D"/>
                </a:solidFill>
                <a:latin typeface="Segoe UI" pitchFamily="34" charset="0"/>
                <a:ea typeface="Segoe UI" pitchFamily="34" charset="-122"/>
                <a:cs typeface="Segoe UI" pitchFamily="34" charset="-120"/>
              </a:rPr>
              <a:t>WHAT THEY’D CHANGE</a:t>
            </a:r>
            <a:endParaRPr lang="en-US" sz="1000" dirty="0"/>
          </a:p>
        </p:txBody>
      </p:sp>
      <p:sp>
        <p:nvSpPr>
          <p:cNvPr id="17" name="Text 14"/>
          <p:cNvSpPr/>
          <p:nvPr/>
        </p:nvSpPr>
        <p:spPr>
          <a:xfrm>
            <a:off x="6172200" y="1691640"/>
            <a:ext cx="2331720" cy="12801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2B1D0E"/>
                </a:solidFill>
                <a:latin typeface="Segoe UI" pitchFamily="34" charset="0"/>
                <a:ea typeface="Segoe UI" pitchFamily="34" charset="-122"/>
                <a:cs typeface="Segoe UI" pitchFamily="34" charset="-120"/>
              </a:rPr>
              <a:t>Less on screen, more spacing (3)</a:t>
            </a:r>
            <a:endParaRPr lang="en-US" sz="1200" dirty="0"/>
          </a:p>
          <a:p>
            <a:pPr marL="342900" indent="-342900">
              <a:spcAft>
                <a:spcPts val="600"/>
              </a:spcAft>
              <a:buSzPct val="100000"/>
              <a:buChar char="•"/>
            </a:pPr>
            <a:r>
              <a:rPr lang="en-US" sz="1200" dirty="0">
                <a:solidFill>
                  <a:srgbClr val="2B1D0E"/>
                </a:solidFill>
                <a:latin typeface="Segoe UI" pitchFamily="34" charset="0"/>
                <a:ea typeface="Segoe UI" pitchFamily="34" charset="-122"/>
                <a:cs typeface="Segoe UI" pitchFamily="34" charset="-120"/>
              </a:rPr>
              <a:t>Photos in reviews</a:t>
            </a:r>
            <a:endParaRPr lang="en-US" sz="1200" dirty="0"/>
          </a:p>
          <a:p>
            <a:pPr marL="342900" indent="-342900">
              <a:spcAft>
                <a:spcPts val="600"/>
              </a:spcAft>
              <a:buSzPct val="100000"/>
              <a:buChar char="•"/>
            </a:pPr>
            <a:r>
              <a:rPr lang="en-US" sz="1200" dirty="0">
                <a:solidFill>
                  <a:srgbClr val="2B1D0E"/>
                </a:solidFill>
                <a:latin typeface="Segoe UI" pitchFamily="34" charset="0"/>
                <a:ea typeface="Segoe UI" pitchFamily="34" charset="-122"/>
                <a:cs typeface="Segoe UI" pitchFamily="34" charset="-120"/>
              </a:rPr>
              <a:t>Menu prices and average spend</a:t>
            </a:r>
            <a:endParaRPr lang="en-US" sz="1200" dirty="0"/>
          </a:p>
        </p:txBody>
      </p:sp>
      <p:sp>
        <p:nvSpPr>
          <p:cNvPr id="18" name="Shape 15"/>
          <p:cNvSpPr/>
          <p:nvPr/>
        </p:nvSpPr>
        <p:spPr>
          <a:xfrm>
            <a:off x="502920" y="3429000"/>
            <a:ext cx="64008" cy="868680"/>
          </a:xfrm>
          <a:prstGeom prst="rect">
            <a:avLst/>
          </a:prstGeom>
          <a:solidFill>
            <a:srgbClr val="F26B1D"/>
          </a:solidFill>
          <a:ln w="12700">
            <a:solidFill>
              <a:srgbClr val="F26B1D"/>
            </a:solidFill>
            <a:prstDash val="solid"/>
          </a:ln>
        </p:spPr>
      </p:sp>
      <p:sp>
        <p:nvSpPr>
          <p:cNvPr id="19" name="Text 16"/>
          <p:cNvSpPr/>
          <p:nvPr/>
        </p:nvSpPr>
        <p:spPr>
          <a:xfrm>
            <a:off x="731520" y="3429000"/>
            <a:ext cx="7863840" cy="274320"/>
          </a:xfrm>
          <a:prstGeom prst="rect">
            <a:avLst/>
          </a:prstGeom>
          <a:noFill/>
          <a:ln/>
        </p:spPr>
        <p:txBody>
          <a:bodyPr wrap="square" lIns="0" tIns="0" rIns="0" bIns="0" rtlCol="0" anchor="t"/>
          <a:lstStyle/>
          <a:p>
            <a:pPr indent="0" marL="0">
              <a:buNone/>
            </a:pPr>
            <a:r>
              <a:rPr lang="en-US" sz="1250" b="1" dirty="0">
                <a:solidFill>
                  <a:srgbClr val="2B1D0E"/>
                </a:solidFill>
                <a:latin typeface="Segoe UI" pitchFamily="34" charset="0"/>
                <a:ea typeface="Segoe UI" pitchFamily="34" charset="-122"/>
                <a:cs typeface="Segoe UI" pitchFamily="34" charset="-120"/>
              </a:rPr>
              <a:t>How we read the 100%</a:t>
            </a:r>
            <a:endParaRPr lang="en-US" sz="1250" dirty="0"/>
          </a:p>
        </p:txBody>
      </p:sp>
      <p:sp>
        <p:nvSpPr>
          <p:cNvPr id="20" name="Text 17"/>
          <p:cNvSpPr/>
          <p:nvPr/>
        </p:nvSpPr>
        <p:spPr>
          <a:xfrm>
            <a:off x="731520" y="3721608"/>
            <a:ext cx="7863840" cy="594360"/>
          </a:xfrm>
          <a:prstGeom prst="rect">
            <a:avLst/>
          </a:prstGeom>
          <a:noFill/>
          <a:ln/>
        </p:spPr>
        <p:txBody>
          <a:bodyPr wrap="square" lIns="0" tIns="0" rIns="0" bIns="0" rtlCol="0" anchor="t"/>
          <a:lstStyle/>
          <a:p>
            <a:pPr indent="0" marL="0">
              <a:buNone/>
            </a:pPr>
            <a:r>
              <a:rPr lang="en-US" sz="1200" dirty="0">
                <a:solidFill>
                  <a:srgbClr val="2B1D0E"/>
                </a:solidFill>
                <a:latin typeface="Segoe UI" pitchFamily="34" charset="0"/>
                <a:ea typeface="Segoe UI" pitchFamily="34" charset="-122"/>
                <a:cs typeface="Segoe UI" pitchFamily="34" charset="-120"/>
              </a:rPr>
              <a:t>People tend to be polite in interviews, so 20 of 20 is probably higher than real use would be. We put more weight on the specific feedback above.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6E5"/>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26B1D"/>
          </a:solidFill>
          <a:ln w="12700">
            <a:solidFill>
              <a:srgbClr val="F26B1D"/>
            </a:solidFill>
            <a:prstDash val="solid"/>
          </a:ln>
        </p:spPr>
      </p:sp>
      <p:sp>
        <p:nvSpPr>
          <p:cNvPr id="3" name="Text 1"/>
          <p:cNvSpPr/>
          <p:nvPr/>
        </p:nvSpPr>
        <p:spPr>
          <a:xfrm>
            <a:off x="502920" y="219456"/>
            <a:ext cx="8138160" cy="237744"/>
          </a:xfrm>
          <a:prstGeom prst="rect">
            <a:avLst/>
          </a:prstGeom>
          <a:noFill/>
          <a:ln/>
        </p:spPr>
        <p:txBody>
          <a:bodyPr wrap="square" lIns="0" tIns="0" rIns="0" bIns="0" rtlCol="0" anchor="ctr"/>
          <a:lstStyle/>
          <a:p>
            <a:pPr indent="0" marL="0">
              <a:buNone/>
            </a:pPr>
            <a:r>
              <a:rPr lang="en-US" sz="1050" b="1" spc="200" kern="0" dirty="0">
                <a:solidFill>
                  <a:srgbClr val="F26B1D"/>
                </a:solidFill>
                <a:latin typeface="Segoe UI" pitchFamily="34" charset="0"/>
                <a:ea typeface="Segoe UI" pitchFamily="34" charset="-122"/>
                <a:cs typeface="Segoe UI" pitchFamily="34" charset="-120"/>
              </a:rPr>
              <a:t>KEY LEARNINGS AND UNEXPECTED INSIGHTS</a:t>
            </a:r>
            <a:endParaRPr lang="en-US" sz="1050" dirty="0"/>
          </a:p>
        </p:txBody>
      </p:sp>
      <p:sp>
        <p:nvSpPr>
          <p:cNvPr id="4" name="Text 2"/>
          <p:cNvSpPr/>
          <p:nvPr/>
        </p:nvSpPr>
        <p:spPr>
          <a:xfrm>
            <a:off x="502920" y="457200"/>
            <a:ext cx="8138160" cy="685800"/>
          </a:xfrm>
          <a:prstGeom prst="rect">
            <a:avLst/>
          </a:prstGeom>
          <a:noFill/>
          <a:ln/>
        </p:spPr>
        <p:txBody>
          <a:bodyPr wrap="square" lIns="0" tIns="0" rIns="0" bIns="0" rtlCol="0" anchor="t">
            <a:normAutofit/>
          </a:bodyPr>
          <a:lstStyle/>
          <a:p>
            <a:pPr indent="0" marL="0">
              <a:buNone/>
            </a:pPr>
            <a:r>
              <a:rPr lang="en-US" sz="2000" b="1" dirty="0">
                <a:solidFill>
                  <a:srgbClr val="2B1D0E"/>
                </a:solidFill>
                <a:latin typeface="Segoe UI" pitchFamily="34" charset="0"/>
                <a:ea typeface="Segoe UI" pitchFamily="34" charset="-122"/>
                <a:cs typeface="Segoe UI" pitchFamily="34" charset="-120"/>
              </a:rPr>
              <a:t>What we learned</a:t>
            </a:r>
            <a:endParaRPr lang="en-US" sz="2000" dirty="0"/>
          </a:p>
        </p:txBody>
      </p:sp>
      <p:sp>
        <p:nvSpPr>
          <p:cNvPr id="5" name="Text 3"/>
          <p:cNvSpPr/>
          <p:nvPr/>
        </p:nvSpPr>
        <p:spPr>
          <a:xfrm>
            <a:off x="502920" y="4791456"/>
            <a:ext cx="4572000" cy="219456"/>
          </a:xfrm>
          <a:prstGeom prst="rect">
            <a:avLst/>
          </a:prstGeom>
          <a:noFill/>
          <a:ln/>
        </p:spPr>
        <p:txBody>
          <a:bodyPr wrap="square" lIns="0" tIns="0" rIns="0" bIns="0" rtlCol="0" anchor="ctr"/>
          <a:lstStyle/>
          <a:p>
            <a:pPr indent="0" marL="0">
              <a:buNone/>
            </a:pPr>
            <a:r>
              <a:rPr lang="en-US" sz="900" dirty="0">
                <a:solidFill>
                  <a:srgbClr val="7A6650"/>
                </a:solidFill>
                <a:latin typeface="Segoe UI" pitchFamily="34" charset="0"/>
                <a:ea typeface="Segoe UI" pitchFamily="34" charset="-122"/>
                <a:cs typeface="Segoe UI" pitchFamily="34" charset="-120"/>
              </a:rPr>
              <a:t>Keni · Validation results</a:t>
            </a:r>
            <a:endParaRPr lang="en-US" sz="900" dirty="0"/>
          </a:p>
        </p:txBody>
      </p:sp>
      <p:sp>
        <p:nvSpPr>
          <p:cNvPr id="6" name="Text 4"/>
          <p:cNvSpPr/>
          <p:nvPr/>
        </p:nvSpPr>
        <p:spPr>
          <a:xfrm>
            <a:off x="7726680" y="4791456"/>
            <a:ext cx="914400" cy="219456"/>
          </a:xfrm>
          <a:prstGeom prst="rect">
            <a:avLst/>
          </a:prstGeom>
          <a:noFill/>
          <a:ln/>
        </p:spPr>
        <p:txBody>
          <a:bodyPr wrap="square" lIns="0" tIns="0" rIns="0" bIns="0" rtlCol="0" anchor="ctr"/>
          <a:lstStyle/>
          <a:p>
            <a:pPr algn="r" indent="0" marL="0">
              <a:buNone/>
            </a:pPr>
            <a:r>
              <a:rPr lang="en-US" sz="900" dirty="0">
                <a:solidFill>
                  <a:srgbClr val="7A6650"/>
                </a:solidFill>
                <a:latin typeface="Segoe UI" pitchFamily="34" charset="0"/>
                <a:ea typeface="Segoe UI" pitchFamily="34" charset="-122"/>
                <a:cs typeface="Segoe UI" pitchFamily="34" charset="-120"/>
              </a:rPr>
              <a:t>6 / 7</a:t>
            </a:r>
            <a:endParaRPr lang="en-US" sz="900" dirty="0"/>
          </a:p>
        </p:txBody>
      </p:sp>
      <p:sp>
        <p:nvSpPr>
          <p:cNvPr id="8" name="Shape 5"/>
          <p:cNvSpPr/>
          <p:nvPr/>
        </p:nvSpPr>
        <p:spPr>
          <a:xfrm>
            <a:off x="502920" y="1188720"/>
            <a:ext cx="3977640" cy="1572768"/>
          </a:xfrm>
          <a:prstGeom prst="roundRect">
            <a:avLst>
              <a:gd name="adj" fmla="val 5814"/>
            </a:avLst>
          </a:prstGeom>
          <a:solidFill>
            <a:srgbClr val="FFC83D"/>
          </a:solidFill>
          <a:ln w="9525">
            <a:solidFill>
              <a:srgbClr val="EAD9B8"/>
            </a:solidFill>
            <a:prstDash val="solid"/>
          </a:ln>
        </p:spPr>
      </p:sp>
      <p:sp>
        <p:nvSpPr>
          <p:cNvPr id="9" name="Text 6"/>
          <p:cNvSpPr/>
          <p:nvPr/>
        </p:nvSpPr>
        <p:spPr>
          <a:xfrm>
            <a:off x="685800" y="1325880"/>
            <a:ext cx="3611880" cy="219456"/>
          </a:xfrm>
          <a:prstGeom prst="rect">
            <a:avLst/>
          </a:prstGeom>
          <a:noFill/>
          <a:ln/>
        </p:spPr>
        <p:txBody>
          <a:bodyPr wrap="square" lIns="0" tIns="0" rIns="0" bIns="0" rtlCol="0" anchor="t"/>
          <a:lstStyle/>
          <a:p>
            <a:pPr indent="0" marL="0">
              <a:buNone/>
            </a:pPr>
            <a:r>
              <a:rPr lang="en-US" sz="950" b="1" spc="150" kern="0" dirty="0">
                <a:solidFill>
                  <a:srgbClr val="2B1D0E"/>
                </a:solidFill>
                <a:latin typeface="Segoe UI" pitchFamily="34" charset="0"/>
                <a:ea typeface="Segoe UI" pitchFamily="34" charset="-122"/>
                <a:cs typeface="Segoe UI" pitchFamily="34" charset="-120"/>
              </a:rPr>
              <a:t>UNEXPECTED</a:t>
            </a:r>
            <a:endParaRPr lang="en-US" sz="950" dirty="0"/>
          </a:p>
        </p:txBody>
      </p:sp>
      <p:sp>
        <p:nvSpPr>
          <p:cNvPr id="10" name="Text 7"/>
          <p:cNvSpPr/>
          <p:nvPr/>
        </p:nvSpPr>
        <p:spPr>
          <a:xfrm>
            <a:off x="685800" y="1572768"/>
            <a:ext cx="3611880" cy="329184"/>
          </a:xfrm>
          <a:prstGeom prst="rect">
            <a:avLst/>
          </a:prstGeom>
          <a:noFill/>
          <a:ln/>
        </p:spPr>
        <p:txBody>
          <a:bodyPr wrap="square" lIns="0" tIns="0" rIns="0" bIns="0" rtlCol="0" anchor="t"/>
          <a:lstStyle/>
          <a:p>
            <a:pPr indent="0" marL="0">
              <a:buNone/>
            </a:pPr>
            <a:r>
              <a:rPr lang="en-US" sz="1300" b="1" dirty="0">
                <a:solidFill>
                  <a:srgbClr val="2B1D0E"/>
                </a:solidFill>
                <a:latin typeface="Segoe UI" pitchFamily="34" charset="0"/>
                <a:ea typeface="Segoe UI" pitchFamily="34" charset="-122"/>
                <a:cs typeface="Segoe UI" pitchFamily="34" charset="-120"/>
              </a:rPr>
              <a:t>Live info matters more than discovery</a:t>
            </a:r>
            <a:endParaRPr lang="en-US" sz="1300" dirty="0"/>
          </a:p>
        </p:txBody>
      </p:sp>
      <p:sp>
        <p:nvSpPr>
          <p:cNvPr id="11" name="Text 8"/>
          <p:cNvSpPr/>
          <p:nvPr/>
        </p:nvSpPr>
        <p:spPr>
          <a:xfrm>
            <a:off x="685800" y="1938528"/>
            <a:ext cx="3611880" cy="731520"/>
          </a:xfrm>
          <a:prstGeom prst="rect">
            <a:avLst/>
          </a:prstGeom>
          <a:noFill/>
          <a:ln/>
        </p:spPr>
        <p:txBody>
          <a:bodyPr wrap="square" lIns="0" tIns="0" rIns="0" bIns="0" rtlCol="0" anchor="t"/>
          <a:lstStyle/>
          <a:p>
            <a:pPr indent="0" marL="0">
              <a:buNone/>
            </a:pPr>
            <a:r>
              <a:rPr lang="en-US" sz="1100" dirty="0">
                <a:solidFill>
                  <a:srgbClr val="2B1D0E"/>
                </a:solidFill>
                <a:latin typeface="Segoe UI" pitchFamily="34" charset="0"/>
                <a:ea typeface="Segoe UI" pitchFamily="34" charset="-122"/>
                <a:cs typeface="Segoe UI" pitchFamily="34" charset="-120"/>
              </a:rPr>
              <a:t>72% found a place full, closed or crowded and 67% found outdated info. We expected “choosing” to be the main problem.</a:t>
            </a:r>
            <a:endParaRPr lang="en-US" sz="1100" dirty="0"/>
          </a:p>
        </p:txBody>
      </p:sp>
      <p:sp>
        <p:nvSpPr>
          <p:cNvPr id="12" name="Shape 9"/>
          <p:cNvSpPr/>
          <p:nvPr/>
        </p:nvSpPr>
        <p:spPr>
          <a:xfrm>
            <a:off x="4663440" y="1188720"/>
            <a:ext cx="3977640" cy="1572768"/>
          </a:xfrm>
          <a:prstGeom prst="roundRect">
            <a:avLst>
              <a:gd name="adj" fmla="val 5814"/>
            </a:avLst>
          </a:prstGeom>
          <a:solidFill>
            <a:srgbClr val="FFFFFF"/>
          </a:solidFill>
          <a:ln w="9525">
            <a:solidFill>
              <a:srgbClr val="EAD9B8"/>
            </a:solidFill>
            <a:prstDash val="solid"/>
          </a:ln>
        </p:spPr>
      </p:sp>
      <p:sp>
        <p:nvSpPr>
          <p:cNvPr id="13" name="Text 10"/>
          <p:cNvSpPr/>
          <p:nvPr/>
        </p:nvSpPr>
        <p:spPr>
          <a:xfrm>
            <a:off x="4846320" y="1325880"/>
            <a:ext cx="3611880" cy="219456"/>
          </a:xfrm>
          <a:prstGeom prst="rect">
            <a:avLst/>
          </a:prstGeom>
          <a:noFill/>
          <a:ln/>
        </p:spPr>
        <p:txBody>
          <a:bodyPr wrap="square" lIns="0" tIns="0" rIns="0" bIns="0" rtlCol="0" anchor="t"/>
          <a:lstStyle/>
          <a:p>
            <a:pPr indent="0" marL="0">
              <a:buNone/>
            </a:pPr>
            <a:r>
              <a:rPr lang="en-US" sz="950" b="1" spc="150" kern="0" dirty="0">
                <a:solidFill>
                  <a:srgbClr val="F26B1D"/>
                </a:solidFill>
                <a:latin typeface="Segoe UI" pitchFamily="34" charset="0"/>
                <a:ea typeface="Segoe UI" pitchFamily="34" charset="-122"/>
                <a:cs typeface="Segoe UI" pitchFamily="34" charset="-120"/>
              </a:rPr>
              <a:t>BUDGET</a:t>
            </a:r>
            <a:endParaRPr lang="en-US" sz="950" dirty="0"/>
          </a:p>
        </p:txBody>
      </p:sp>
      <p:sp>
        <p:nvSpPr>
          <p:cNvPr id="14" name="Text 11"/>
          <p:cNvSpPr/>
          <p:nvPr/>
        </p:nvSpPr>
        <p:spPr>
          <a:xfrm>
            <a:off x="4846320" y="1572768"/>
            <a:ext cx="3611880" cy="329184"/>
          </a:xfrm>
          <a:prstGeom prst="rect">
            <a:avLst/>
          </a:prstGeom>
          <a:noFill/>
          <a:ln/>
        </p:spPr>
        <p:txBody>
          <a:bodyPr wrap="square" lIns="0" tIns="0" rIns="0" bIns="0" rtlCol="0" anchor="t"/>
          <a:lstStyle/>
          <a:p>
            <a:pPr indent="0" marL="0">
              <a:buNone/>
            </a:pPr>
            <a:r>
              <a:rPr lang="en-US" sz="1300" b="1" dirty="0">
                <a:solidFill>
                  <a:srgbClr val="2B1D0E"/>
                </a:solidFill>
                <a:latin typeface="Segoe UI" pitchFamily="34" charset="0"/>
                <a:ea typeface="Segoe UI" pitchFamily="34" charset="-122"/>
                <a:cs typeface="Segoe UI" pitchFamily="34" charset="-120"/>
              </a:rPr>
              <a:t>Price is part of the decision</a:t>
            </a:r>
            <a:endParaRPr lang="en-US" sz="1300" dirty="0"/>
          </a:p>
        </p:txBody>
      </p:sp>
      <p:sp>
        <p:nvSpPr>
          <p:cNvPr id="15" name="Text 12"/>
          <p:cNvSpPr/>
          <p:nvPr/>
        </p:nvSpPr>
        <p:spPr>
          <a:xfrm>
            <a:off x="4846320" y="1938528"/>
            <a:ext cx="3611880" cy="731520"/>
          </a:xfrm>
          <a:prstGeom prst="rect">
            <a:avLst/>
          </a:prstGeom>
          <a:noFill/>
          <a:ln/>
        </p:spPr>
        <p:txBody>
          <a:bodyPr wrap="square" lIns="0" tIns="0" rIns="0" bIns="0" rtlCol="0" anchor="t"/>
          <a:lstStyle/>
          <a:p>
            <a:pPr indent="0" marL="0">
              <a:buNone/>
            </a:pPr>
            <a:r>
              <a:rPr lang="en-US" sz="1100" dirty="0">
                <a:solidFill>
                  <a:srgbClr val="2B1D0E"/>
                </a:solidFill>
                <a:latin typeface="Segoe UI" pitchFamily="34" charset="0"/>
                <a:ea typeface="Segoe UI" pitchFamily="34" charset="-122"/>
                <a:cs typeface="Segoe UI" pitchFamily="34" charset="-120"/>
              </a:rPr>
              <a:t>56% said the budget or price was unclear, and 12 of 20 fall back on places that are nearby and cheap.</a:t>
            </a:r>
            <a:endParaRPr lang="en-US" sz="1100" dirty="0"/>
          </a:p>
        </p:txBody>
      </p:sp>
      <p:sp>
        <p:nvSpPr>
          <p:cNvPr id="16" name="Shape 13"/>
          <p:cNvSpPr/>
          <p:nvPr/>
        </p:nvSpPr>
        <p:spPr>
          <a:xfrm>
            <a:off x="502920" y="2926080"/>
            <a:ext cx="3977640" cy="1572768"/>
          </a:xfrm>
          <a:prstGeom prst="roundRect">
            <a:avLst>
              <a:gd name="adj" fmla="val 5814"/>
            </a:avLst>
          </a:prstGeom>
          <a:solidFill>
            <a:srgbClr val="FFFFFF"/>
          </a:solidFill>
          <a:ln w="9525">
            <a:solidFill>
              <a:srgbClr val="EAD9B8"/>
            </a:solidFill>
            <a:prstDash val="solid"/>
          </a:ln>
        </p:spPr>
      </p:sp>
      <p:sp>
        <p:nvSpPr>
          <p:cNvPr id="17" name="Text 14"/>
          <p:cNvSpPr/>
          <p:nvPr/>
        </p:nvSpPr>
        <p:spPr>
          <a:xfrm>
            <a:off x="685800" y="3063240"/>
            <a:ext cx="3611880" cy="219456"/>
          </a:xfrm>
          <a:prstGeom prst="rect">
            <a:avLst/>
          </a:prstGeom>
          <a:noFill/>
          <a:ln/>
        </p:spPr>
        <p:txBody>
          <a:bodyPr wrap="square" lIns="0" tIns="0" rIns="0" bIns="0" rtlCol="0" anchor="t"/>
          <a:lstStyle/>
          <a:p>
            <a:pPr indent="0" marL="0">
              <a:buNone/>
            </a:pPr>
            <a:r>
              <a:rPr lang="en-US" sz="950" b="1" spc="150" kern="0" dirty="0">
                <a:solidFill>
                  <a:srgbClr val="F26B1D"/>
                </a:solidFill>
                <a:latin typeface="Segoe UI" pitchFamily="34" charset="0"/>
                <a:ea typeface="Segoe UI" pitchFamily="34" charset="-122"/>
                <a:cs typeface="Segoe UI" pitchFamily="34" charset="-120"/>
              </a:rPr>
              <a:t>GROUPS</a:t>
            </a:r>
            <a:endParaRPr lang="en-US" sz="950" dirty="0"/>
          </a:p>
        </p:txBody>
      </p:sp>
      <p:sp>
        <p:nvSpPr>
          <p:cNvPr id="18" name="Text 15"/>
          <p:cNvSpPr/>
          <p:nvPr/>
        </p:nvSpPr>
        <p:spPr>
          <a:xfrm>
            <a:off x="685800" y="3310128"/>
            <a:ext cx="3611880" cy="329184"/>
          </a:xfrm>
          <a:prstGeom prst="rect">
            <a:avLst/>
          </a:prstGeom>
          <a:noFill/>
          <a:ln/>
        </p:spPr>
        <p:txBody>
          <a:bodyPr wrap="square" lIns="0" tIns="0" rIns="0" bIns="0" rtlCol="0" anchor="t"/>
          <a:lstStyle/>
          <a:p>
            <a:pPr indent="0" marL="0">
              <a:buNone/>
            </a:pPr>
            <a:r>
              <a:rPr lang="en-US" sz="1300" b="1" dirty="0">
                <a:solidFill>
                  <a:srgbClr val="2B1D0E"/>
                </a:solidFill>
                <a:latin typeface="Segoe UI" pitchFamily="34" charset="0"/>
                <a:ea typeface="Segoe UI" pitchFamily="34" charset="-122"/>
                <a:cs typeface="Segoe UI" pitchFamily="34" charset="-120"/>
              </a:rPr>
              <a:t>Deciding as a group is slow</a:t>
            </a:r>
            <a:endParaRPr lang="en-US" sz="1300" dirty="0"/>
          </a:p>
        </p:txBody>
      </p:sp>
      <p:sp>
        <p:nvSpPr>
          <p:cNvPr id="19" name="Text 16"/>
          <p:cNvSpPr/>
          <p:nvPr/>
        </p:nvSpPr>
        <p:spPr>
          <a:xfrm>
            <a:off x="685800" y="3675888"/>
            <a:ext cx="3611880" cy="731520"/>
          </a:xfrm>
          <a:prstGeom prst="rect">
            <a:avLst/>
          </a:prstGeom>
          <a:noFill/>
          <a:ln/>
        </p:spPr>
        <p:txBody>
          <a:bodyPr wrap="square" lIns="0" tIns="0" rIns="0" bIns="0" rtlCol="0" anchor="t"/>
          <a:lstStyle/>
          <a:p>
            <a:pPr indent="0" marL="0">
              <a:buNone/>
            </a:pPr>
            <a:r>
              <a:rPr lang="en-US" sz="1100" dirty="0">
                <a:solidFill>
                  <a:srgbClr val="2B1D0E"/>
                </a:solidFill>
                <a:latin typeface="Segoe UI" pitchFamily="34" charset="0"/>
                <a:ea typeface="Segoe UI" pitchFamily="34" charset="-122"/>
                <a:cs typeface="Segoe UI" pitchFamily="34" charset="-120"/>
              </a:rPr>
              <a:t>50% said there are too many options or the group can’t agree.</a:t>
            </a:r>
            <a:endParaRPr lang="en-US" sz="1100" dirty="0"/>
          </a:p>
        </p:txBody>
      </p:sp>
      <p:sp>
        <p:nvSpPr>
          <p:cNvPr id="20" name="Shape 17"/>
          <p:cNvSpPr/>
          <p:nvPr/>
        </p:nvSpPr>
        <p:spPr>
          <a:xfrm>
            <a:off x="4663440" y="2926080"/>
            <a:ext cx="3977640" cy="1572768"/>
          </a:xfrm>
          <a:prstGeom prst="roundRect">
            <a:avLst>
              <a:gd name="adj" fmla="val 5814"/>
            </a:avLst>
          </a:prstGeom>
          <a:solidFill>
            <a:srgbClr val="FFFFFF"/>
          </a:solidFill>
          <a:ln w="9525">
            <a:solidFill>
              <a:srgbClr val="EAD9B8"/>
            </a:solidFill>
            <a:prstDash val="solid"/>
          </a:ln>
        </p:spPr>
      </p:sp>
      <p:sp>
        <p:nvSpPr>
          <p:cNvPr id="21" name="Text 18"/>
          <p:cNvSpPr/>
          <p:nvPr/>
        </p:nvSpPr>
        <p:spPr>
          <a:xfrm>
            <a:off x="4846320" y="3063240"/>
            <a:ext cx="3611880" cy="219456"/>
          </a:xfrm>
          <a:prstGeom prst="rect">
            <a:avLst/>
          </a:prstGeom>
          <a:noFill/>
          <a:ln/>
        </p:spPr>
        <p:txBody>
          <a:bodyPr wrap="square" lIns="0" tIns="0" rIns="0" bIns="0" rtlCol="0" anchor="t"/>
          <a:lstStyle/>
          <a:p>
            <a:pPr indent="0" marL="0">
              <a:buNone/>
            </a:pPr>
            <a:r>
              <a:rPr lang="en-US" sz="950" b="1" spc="150" kern="0" dirty="0">
                <a:solidFill>
                  <a:srgbClr val="F26B1D"/>
                </a:solidFill>
                <a:latin typeface="Segoe UI" pitchFamily="34" charset="0"/>
                <a:ea typeface="Segoe UI" pitchFamily="34" charset="-122"/>
                <a:cs typeface="Segoe UI" pitchFamily="34" charset="-120"/>
              </a:rPr>
              <a:t>REVIEWS</a:t>
            </a:r>
            <a:endParaRPr lang="en-US" sz="950" dirty="0"/>
          </a:p>
        </p:txBody>
      </p:sp>
      <p:sp>
        <p:nvSpPr>
          <p:cNvPr id="22" name="Text 19"/>
          <p:cNvSpPr/>
          <p:nvPr/>
        </p:nvSpPr>
        <p:spPr>
          <a:xfrm>
            <a:off x="4846320" y="3310128"/>
            <a:ext cx="3611880" cy="329184"/>
          </a:xfrm>
          <a:prstGeom prst="rect">
            <a:avLst/>
          </a:prstGeom>
          <a:noFill/>
          <a:ln/>
        </p:spPr>
        <p:txBody>
          <a:bodyPr wrap="square" lIns="0" tIns="0" rIns="0" bIns="0" rtlCol="0" anchor="t"/>
          <a:lstStyle/>
          <a:p>
            <a:pPr indent="0" marL="0">
              <a:buNone/>
            </a:pPr>
            <a:r>
              <a:rPr lang="en-US" sz="1300" b="1" dirty="0">
                <a:solidFill>
                  <a:srgbClr val="2B1D0E"/>
                </a:solidFill>
                <a:latin typeface="Segoe UI" pitchFamily="34" charset="0"/>
                <a:ea typeface="Segoe UI" pitchFamily="34" charset="-122"/>
                <a:cs typeface="Segoe UI" pitchFamily="34" charset="-120"/>
              </a:rPr>
              <a:t>Reviews have to feel real</a:t>
            </a:r>
            <a:endParaRPr lang="en-US" sz="1300" dirty="0"/>
          </a:p>
        </p:txBody>
      </p:sp>
      <p:sp>
        <p:nvSpPr>
          <p:cNvPr id="23" name="Text 20"/>
          <p:cNvSpPr/>
          <p:nvPr/>
        </p:nvSpPr>
        <p:spPr>
          <a:xfrm>
            <a:off x="4846320" y="3675888"/>
            <a:ext cx="3611880" cy="731520"/>
          </a:xfrm>
          <a:prstGeom prst="rect">
            <a:avLst/>
          </a:prstGeom>
          <a:noFill/>
          <a:ln/>
        </p:spPr>
        <p:txBody>
          <a:bodyPr wrap="square" lIns="0" tIns="0" rIns="0" bIns="0" rtlCol="0" anchor="t"/>
          <a:lstStyle/>
          <a:p>
            <a:pPr indent="0" marL="0">
              <a:buNone/>
            </a:pPr>
            <a:r>
              <a:rPr lang="en-US" sz="1100" dirty="0">
                <a:solidFill>
                  <a:srgbClr val="2B1D0E"/>
                </a:solidFill>
                <a:latin typeface="Segoe UI" pitchFamily="34" charset="0"/>
                <a:ea typeface="Segoe UI" pitchFamily="34" charset="-122"/>
                <a:cs typeface="Segoe UI" pitchFamily="34" charset="-120"/>
              </a:rPr>
              <a:t>First-hand, detailed reviews are trusted. Reviews that look paid are not (from 5 transcripts).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6E5"/>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26B1D"/>
          </a:solidFill>
          <a:ln w="12700">
            <a:solidFill>
              <a:srgbClr val="F26B1D"/>
            </a:solidFill>
            <a:prstDash val="solid"/>
          </a:ln>
        </p:spPr>
      </p:sp>
      <p:sp>
        <p:nvSpPr>
          <p:cNvPr id="3" name="Text 1"/>
          <p:cNvSpPr/>
          <p:nvPr/>
        </p:nvSpPr>
        <p:spPr>
          <a:xfrm>
            <a:off x="502920" y="219456"/>
            <a:ext cx="8138160" cy="237744"/>
          </a:xfrm>
          <a:prstGeom prst="rect">
            <a:avLst/>
          </a:prstGeom>
          <a:noFill/>
          <a:ln/>
        </p:spPr>
        <p:txBody>
          <a:bodyPr wrap="square" lIns="0" tIns="0" rIns="0" bIns="0" rtlCol="0" anchor="ctr"/>
          <a:lstStyle/>
          <a:p>
            <a:pPr indent="0" marL="0">
              <a:buNone/>
            </a:pPr>
            <a:r>
              <a:rPr lang="en-US" sz="1050" b="1" spc="200" kern="0" dirty="0">
                <a:solidFill>
                  <a:srgbClr val="F26B1D"/>
                </a:solidFill>
                <a:latin typeface="Segoe UI" pitchFamily="34" charset="0"/>
                <a:ea typeface="Segoe UI" pitchFamily="34" charset="-122"/>
                <a:cs typeface="Segoe UI" pitchFamily="34" charset="-120"/>
              </a:rPr>
              <a:t>NEXT STEPS</a:t>
            </a:r>
            <a:endParaRPr lang="en-US" sz="1050" dirty="0"/>
          </a:p>
        </p:txBody>
      </p:sp>
      <p:sp>
        <p:nvSpPr>
          <p:cNvPr id="4" name="Text 2"/>
          <p:cNvSpPr/>
          <p:nvPr/>
        </p:nvSpPr>
        <p:spPr>
          <a:xfrm>
            <a:off x="502920" y="457200"/>
            <a:ext cx="8138160" cy="685800"/>
          </a:xfrm>
          <a:prstGeom prst="rect">
            <a:avLst/>
          </a:prstGeom>
          <a:noFill/>
          <a:ln/>
        </p:spPr>
        <p:txBody>
          <a:bodyPr wrap="square" lIns="0" tIns="0" rIns="0" bIns="0" rtlCol="0" anchor="t">
            <a:normAutofit/>
          </a:bodyPr>
          <a:lstStyle/>
          <a:p>
            <a:pPr indent="0" marL="0">
              <a:buNone/>
            </a:pPr>
            <a:r>
              <a:rPr lang="en-US" sz="2000" b="1" dirty="0">
                <a:solidFill>
                  <a:srgbClr val="2B1D0E"/>
                </a:solidFill>
                <a:latin typeface="Segoe UI" pitchFamily="34" charset="0"/>
                <a:ea typeface="Segoe UI" pitchFamily="34" charset="-122"/>
                <a:cs typeface="Segoe UI" pitchFamily="34" charset="-120"/>
              </a:rPr>
              <a:t>Our action: pursue, with these changes</a:t>
            </a:r>
            <a:endParaRPr lang="en-US" sz="2000" dirty="0"/>
          </a:p>
        </p:txBody>
      </p:sp>
      <p:sp>
        <p:nvSpPr>
          <p:cNvPr id="5" name="Text 3"/>
          <p:cNvSpPr/>
          <p:nvPr/>
        </p:nvSpPr>
        <p:spPr>
          <a:xfrm>
            <a:off x="502920" y="4791456"/>
            <a:ext cx="4572000" cy="219456"/>
          </a:xfrm>
          <a:prstGeom prst="rect">
            <a:avLst/>
          </a:prstGeom>
          <a:noFill/>
          <a:ln/>
        </p:spPr>
        <p:txBody>
          <a:bodyPr wrap="square" lIns="0" tIns="0" rIns="0" bIns="0" rtlCol="0" anchor="ctr"/>
          <a:lstStyle/>
          <a:p>
            <a:pPr indent="0" marL="0">
              <a:buNone/>
            </a:pPr>
            <a:r>
              <a:rPr lang="en-US" sz="900" dirty="0">
                <a:solidFill>
                  <a:srgbClr val="7A6650"/>
                </a:solidFill>
                <a:latin typeface="Segoe UI" pitchFamily="34" charset="0"/>
                <a:ea typeface="Segoe UI" pitchFamily="34" charset="-122"/>
                <a:cs typeface="Segoe UI" pitchFamily="34" charset="-120"/>
              </a:rPr>
              <a:t>Keni · Validation results</a:t>
            </a:r>
            <a:endParaRPr lang="en-US" sz="900" dirty="0"/>
          </a:p>
        </p:txBody>
      </p:sp>
      <p:sp>
        <p:nvSpPr>
          <p:cNvPr id="6" name="Text 4"/>
          <p:cNvSpPr/>
          <p:nvPr/>
        </p:nvSpPr>
        <p:spPr>
          <a:xfrm>
            <a:off x="7726680" y="4791456"/>
            <a:ext cx="914400" cy="219456"/>
          </a:xfrm>
          <a:prstGeom prst="rect">
            <a:avLst/>
          </a:prstGeom>
          <a:noFill/>
          <a:ln/>
        </p:spPr>
        <p:txBody>
          <a:bodyPr wrap="square" lIns="0" tIns="0" rIns="0" bIns="0" rtlCol="0" anchor="ctr"/>
          <a:lstStyle/>
          <a:p>
            <a:pPr algn="r" indent="0" marL="0">
              <a:buNone/>
            </a:pPr>
            <a:r>
              <a:rPr lang="en-US" sz="900" dirty="0">
                <a:solidFill>
                  <a:srgbClr val="7A6650"/>
                </a:solidFill>
                <a:latin typeface="Segoe UI" pitchFamily="34" charset="0"/>
                <a:ea typeface="Segoe UI" pitchFamily="34" charset="-122"/>
                <a:cs typeface="Segoe UI" pitchFamily="34" charset="-120"/>
              </a:rPr>
              <a:t>7 / 7</a:t>
            </a:r>
            <a:endParaRPr lang="en-US" sz="900" dirty="0"/>
          </a:p>
        </p:txBody>
      </p:sp>
      <p:sp>
        <p:nvSpPr>
          <p:cNvPr id="8" name="Shape 5"/>
          <p:cNvSpPr/>
          <p:nvPr/>
        </p:nvSpPr>
        <p:spPr>
          <a:xfrm>
            <a:off x="502920" y="1234440"/>
            <a:ext cx="2103120" cy="566928"/>
          </a:xfrm>
          <a:prstGeom prst="roundRect">
            <a:avLst>
              <a:gd name="adj" fmla="val 19355"/>
            </a:avLst>
          </a:prstGeom>
          <a:solidFill>
            <a:srgbClr val="F26B1D"/>
          </a:solidFill>
          <a:ln w="12700">
            <a:solidFill>
              <a:srgbClr val="F26B1D"/>
            </a:solidFill>
            <a:prstDash val="solid"/>
          </a:ln>
        </p:spPr>
      </p:sp>
      <p:sp>
        <p:nvSpPr>
          <p:cNvPr id="9" name="Text 6"/>
          <p:cNvSpPr/>
          <p:nvPr/>
        </p:nvSpPr>
        <p:spPr>
          <a:xfrm>
            <a:off x="502920" y="1234440"/>
            <a:ext cx="2103120" cy="566928"/>
          </a:xfrm>
          <a:prstGeom prst="rect">
            <a:avLst/>
          </a:prstGeom>
          <a:noFill/>
          <a:ln/>
        </p:spPr>
        <p:txBody>
          <a:bodyPr wrap="square" lIns="0" tIns="0" rIns="0" bIns="0" rtlCol="0" anchor="ctr"/>
          <a:lstStyle/>
          <a:p>
            <a:pPr algn="ctr" indent="0" marL="0">
              <a:buNone/>
            </a:pPr>
            <a:r>
              <a:rPr lang="en-US" sz="2000" b="1" spc="300" kern="0" dirty="0">
                <a:solidFill>
                  <a:srgbClr val="FFFFFF"/>
                </a:solidFill>
                <a:latin typeface="Segoe UI" pitchFamily="34" charset="0"/>
                <a:ea typeface="Segoe UI" pitchFamily="34" charset="-122"/>
                <a:cs typeface="Segoe UI" pitchFamily="34" charset="-120"/>
              </a:rPr>
              <a:t>PURSUE</a:t>
            </a:r>
            <a:endParaRPr lang="en-US" sz="2000" dirty="0"/>
          </a:p>
        </p:txBody>
      </p:sp>
      <p:sp>
        <p:nvSpPr>
          <p:cNvPr id="10" name="Text 7"/>
          <p:cNvSpPr/>
          <p:nvPr/>
        </p:nvSpPr>
        <p:spPr>
          <a:xfrm>
            <a:off x="502920" y="1938528"/>
            <a:ext cx="3291840" cy="822960"/>
          </a:xfrm>
          <a:prstGeom prst="rect">
            <a:avLst/>
          </a:prstGeom>
          <a:noFill/>
          <a:ln/>
        </p:spPr>
        <p:txBody>
          <a:bodyPr wrap="square" lIns="0" tIns="0" rIns="0" bIns="0" rtlCol="0" anchor="t"/>
          <a:lstStyle/>
          <a:p>
            <a:pPr indent="0" marL="0">
              <a:buNone/>
            </a:pPr>
            <a:r>
              <a:rPr lang="en-US" sz="1250" dirty="0">
                <a:solidFill>
                  <a:srgbClr val="2B1D0E"/>
                </a:solidFill>
                <a:latin typeface="Segoe UI" pitchFamily="34" charset="0"/>
                <a:ea typeface="Segoe UI" pitchFamily="34" charset="-122"/>
                <a:cs typeface="Segoe UI" pitchFamily="34" charset="-120"/>
              </a:rPr>
              <a:t>20 of 20 would use Keni, and the feedback points to fixes, not a new direction.</a:t>
            </a:r>
            <a:endParaRPr lang="en-US" sz="1250" dirty="0"/>
          </a:p>
        </p:txBody>
      </p:sp>
      <p:sp>
        <p:nvSpPr>
          <p:cNvPr id="11" name="Text 8"/>
          <p:cNvSpPr/>
          <p:nvPr/>
        </p:nvSpPr>
        <p:spPr>
          <a:xfrm>
            <a:off x="502920" y="2880360"/>
            <a:ext cx="3291840" cy="237744"/>
          </a:xfrm>
          <a:prstGeom prst="rect">
            <a:avLst/>
          </a:prstGeom>
          <a:noFill/>
          <a:ln/>
        </p:spPr>
        <p:txBody>
          <a:bodyPr wrap="square" lIns="0" tIns="0" rIns="0" bIns="0" rtlCol="0" anchor="t"/>
          <a:lstStyle/>
          <a:p>
            <a:pPr indent="0" marL="0">
              <a:buNone/>
            </a:pPr>
            <a:r>
              <a:rPr lang="en-US" sz="1000" b="1" spc="150" kern="0" dirty="0">
                <a:solidFill>
                  <a:srgbClr val="F26B1D"/>
                </a:solidFill>
                <a:latin typeface="Segoe UI" pitchFamily="34" charset="0"/>
                <a:ea typeface="Segoe UI" pitchFamily="34" charset="-122"/>
                <a:cs typeface="Segoe UI" pitchFamily="34" charset="-120"/>
              </a:rPr>
              <a:t>NEXT EXPERIMENT</a:t>
            </a:r>
            <a:endParaRPr lang="en-US" sz="1000" dirty="0"/>
          </a:p>
        </p:txBody>
      </p:sp>
      <p:sp>
        <p:nvSpPr>
          <p:cNvPr id="12" name="Text 9"/>
          <p:cNvSpPr/>
          <p:nvPr/>
        </p:nvSpPr>
        <p:spPr>
          <a:xfrm>
            <a:off x="502920" y="3154680"/>
            <a:ext cx="3383280" cy="137160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2B1D0E"/>
                </a:solidFill>
                <a:latin typeface="Segoe UI" pitchFamily="34" charset="0"/>
                <a:ea typeface="Segoe UI" pitchFamily="34" charset="-122"/>
                <a:cs typeface="Segoe UI" pitchFamily="34" charset="-120"/>
              </a:rPr>
              <a:t>Test real use, not just interest: students plan an actual outing with Keni</a:t>
            </a:r>
            <a:endParaRPr lang="en-US" sz="1150" dirty="0"/>
          </a:p>
          <a:p>
            <a:pPr marL="342900" indent="-342900">
              <a:spcAft>
                <a:spcPts val="600"/>
              </a:spcAft>
              <a:buSzPct val="100000"/>
              <a:buChar char="•"/>
            </a:pPr>
            <a:r>
              <a:rPr lang="en-US" sz="1150" dirty="0">
                <a:solidFill>
                  <a:srgbClr val="2B1D0E"/>
                </a:solidFill>
                <a:latin typeface="Segoe UI" pitchFamily="34" charset="0"/>
                <a:ea typeface="Segoe UI" pitchFamily="34" charset="-122"/>
                <a:cs typeface="Segoe UI" pitchFamily="34" charset="-120"/>
              </a:rPr>
              <a:t>Interview small business owners, the source of the info students found missing</a:t>
            </a:r>
            <a:endParaRPr lang="en-US" sz="1150" dirty="0"/>
          </a:p>
        </p:txBody>
      </p:sp>
      <p:sp>
        <p:nvSpPr>
          <p:cNvPr id="13" name="Shape 10"/>
          <p:cNvSpPr/>
          <p:nvPr/>
        </p:nvSpPr>
        <p:spPr>
          <a:xfrm>
            <a:off x="4206240" y="1234440"/>
            <a:ext cx="4434840" cy="3291840"/>
          </a:xfrm>
          <a:prstGeom prst="roundRect">
            <a:avLst>
              <a:gd name="adj" fmla="val 2778"/>
            </a:avLst>
          </a:prstGeom>
          <a:solidFill>
            <a:srgbClr val="FFFFFF"/>
          </a:solidFill>
          <a:ln w="9525">
            <a:solidFill>
              <a:srgbClr val="EAD9B8"/>
            </a:solidFill>
            <a:prstDash val="solid"/>
          </a:ln>
        </p:spPr>
      </p:sp>
      <p:sp>
        <p:nvSpPr>
          <p:cNvPr id="14" name="Text 11"/>
          <p:cNvSpPr/>
          <p:nvPr/>
        </p:nvSpPr>
        <p:spPr>
          <a:xfrm>
            <a:off x="4407408" y="1389888"/>
            <a:ext cx="4023360" cy="237744"/>
          </a:xfrm>
          <a:prstGeom prst="rect">
            <a:avLst/>
          </a:prstGeom>
          <a:noFill/>
          <a:ln/>
        </p:spPr>
        <p:txBody>
          <a:bodyPr wrap="square" lIns="0" tIns="0" rIns="0" bIns="0" rtlCol="0" anchor="t"/>
          <a:lstStyle/>
          <a:p>
            <a:pPr indent="0" marL="0">
              <a:buNone/>
            </a:pPr>
            <a:r>
              <a:rPr lang="en-US" sz="1000" b="1" spc="150" kern="0" dirty="0">
                <a:solidFill>
                  <a:srgbClr val="F26B1D"/>
                </a:solidFill>
                <a:latin typeface="Segoe UI" pitchFamily="34" charset="0"/>
                <a:ea typeface="Segoe UI" pitchFamily="34" charset="-122"/>
                <a:cs typeface="Segoe UI" pitchFamily="34" charset="-120"/>
              </a:rPr>
              <a:t>WHAT WE’LL CHANGE</a:t>
            </a:r>
            <a:endParaRPr lang="en-US" sz="1000" dirty="0"/>
          </a:p>
        </p:txBody>
      </p:sp>
      <p:sp>
        <p:nvSpPr>
          <p:cNvPr id="15" name="Shape 12"/>
          <p:cNvSpPr/>
          <p:nvPr/>
        </p:nvSpPr>
        <p:spPr>
          <a:xfrm>
            <a:off x="4407408" y="1792224"/>
            <a:ext cx="384048" cy="384048"/>
          </a:xfrm>
          <a:prstGeom prst="ellipse">
            <a:avLst/>
          </a:prstGeom>
          <a:solidFill>
            <a:srgbClr val="FFC83D"/>
          </a:solidFill>
          <a:ln w="12700">
            <a:solidFill>
              <a:srgbClr val="FFC83D"/>
            </a:solidFill>
            <a:prstDash val="solid"/>
          </a:ln>
        </p:spPr>
      </p:sp>
      <p:sp>
        <p:nvSpPr>
          <p:cNvPr id="16" name="Text 13"/>
          <p:cNvSpPr/>
          <p:nvPr/>
        </p:nvSpPr>
        <p:spPr>
          <a:xfrm>
            <a:off x="4407408" y="1792224"/>
            <a:ext cx="384048" cy="384048"/>
          </a:xfrm>
          <a:prstGeom prst="rect">
            <a:avLst/>
          </a:prstGeom>
          <a:noFill/>
          <a:ln/>
        </p:spPr>
        <p:txBody>
          <a:bodyPr wrap="square" lIns="0" tIns="0" rIns="0" bIns="0" rtlCol="0" anchor="ctr"/>
          <a:lstStyle/>
          <a:p>
            <a:pPr algn="ctr" indent="0" marL="0">
              <a:buNone/>
            </a:pPr>
            <a:r>
              <a:rPr lang="en-US" sz="1300" b="1" dirty="0">
                <a:solidFill>
                  <a:srgbClr val="2B1D0E"/>
                </a:solidFill>
                <a:latin typeface="Segoe UI" pitchFamily="34" charset="0"/>
                <a:ea typeface="Segoe UI" pitchFamily="34" charset="-122"/>
                <a:cs typeface="Segoe UI" pitchFamily="34" charset="-120"/>
              </a:rPr>
              <a:t>1</a:t>
            </a:r>
            <a:endParaRPr lang="en-US" sz="1300" dirty="0"/>
          </a:p>
        </p:txBody>
      </p:sp>
      <p:sp>
        <p:nvSpPr>
          <p:cNvPr id="17" name="Text 14"/>
          <p:cNvSpPr/>
          <p:nvPr/>
        </p:nvSpPr>
        <p:spPr>
          <a:xfrm>
            <a:off x="4937760" y="1755648"/>
            <a:ext cx="3566160" cy="274320"/>
          </a:xfrm>
          <a:prstGeom prst="rect">
            <a:avLst/>
          </a:prstGeom>
          <a:noFill/>
          <a:ln/>
        </p:spPr>
        <p:txBody>
          <a:bodyPr wrap="square" lIns="0" tIns="0" rIns="0" bIns="0" rtlCol="0" anchor="t"/>
          <a:lstStyle/>
          <a:p>
            <a:pPr indent="0" marL="0">
              <a:buNone/>
            </a:pPr>
            <a:r>
              <a:rPr lang="en-US" sz="1150" b="1" dirty="0">
                <a:solidFill>
                  <a:srgbClr val="2B1D0E"/>
                </a:solidFill>
                <a:latin typeface="Segoe UI" pitchFamily="34" charset="0"/>
                <a:ea typeface="Segoe UI" pitchFamily="34" charset="-122"/>
                <a:cs typeface="Segoe UI" pitchFamily="34" charset="-120"/>
              </a:rPr>
              <a:t>Put “open now”, hours and crowd info first</a:t>
            </a:r>
            <a:endParaRPr lang="en-US" sz="1150" dirty="0"/>
          </a:p>
        </p:txBody>
      </p:sp>
      <p:sp>
        <p:nvSpPr>
          <p:cNvPr id="18" name="Text 15"/>
          <p:cNvSpPr/>
          <p:nvPr/>
        </p:nvSpPr>
        <p:spPr>
          <a:xfrm>
            <a:off x="4937760" y="2029968"/>
            <a:ext cx="3566160" cy="237744"/>
          </a:xfrm>
          <a:prstGeom prst="rect">
            <a:avLst/>
          </a:prstGeom>
          <a:noFill/>
          <a:ln/>
        </p:spPr>
        <p:txBody>
          <a:bodyPr wrap="square" lIns="0" tIns="0" rIns="0" bIns="0" rtlCol="0" anchor="t"/>
          <a:lstStyle/>
          <a:p>
            <a:pPr indent="0" marL="0">
              <a:buNone/>
            </a:pPr>
            <a:r>
              <a:rPr lang="en-US" sz="1050" dirty="0">
                <a:solidFill>
                  <a:srgbClr val="7A6650"/>
                </a:solidFill>
                <a:latin typeface="Segoe UI" pitchFamily="34" charset="0"/>
                <a:ea typeface="Segoe UI" pitchFamily="34" charset="-122"/>
                <a:cs typeface="Segoe UI" pitchFamily="34" charset="-120"/>
              </a:rPr>
              <a:t>the top two pains</a:t>
            </a:r>
            <a:endParaRPr lang="en-US" sz="1050" dirty="0"/>
          </a:p>
        </p:txBody>
      </p:sp>
      <p:sp>
        <p:nvSpPr>
          <p:cNvPr id="19" name="Shape 16"/>
          <p:cNvSpPr/>
          <p:nvPr/>
        </p:nvSpPr>
        <p:spPr>
          <a:xfrm>
            <a:off x="4407408" y="2468880"/>
            <a:ext cx="384048" cy="384048"/>
          </a:xfrm>
          <a:prstGeom prst="ellipse">
            <a:avLst/>
          </a:prstGeom>
          <a:solidFill>
            <a:srgbClr val="FFC83D"/>
          </a:solidFill>
          <a:ln w="12700">
            <a:solidFill>
              <a:srgbClr val="FFC83D"/>
            </a:solidFill>
            <a:prstDash val="solid"/>
          </a:ln>
        </p:spPr>
      </p:sp>
      <p:sp>
        <p:nvSpPr>
          <p:cNvPr id="20" name="Text 17"/>
          <p:cNvSpPr/>
          <p:nvPr/>
        </p:nvSpPr>
        <p:spPr>
          <a:xfrm>
            <a:off x="4407408" y="2468880"/>
            <a:ext cx="384048" cy="384048"/>
          </a:xfrm>
          <a:prstGeom prst="rect">
            <a:avLst/>
          </a:prstGeom>
          <a:noFill/>
          <a:ln/>
        </p:spPr>
        <p:txBody>
          <a:bodyPr wrap="square" lIns="0" tIns="0" rIns="0" bIns="0" rtlCol="0" anchor="ctr"/>
          <a:lstStyle/>
          <a:p>
            <a:pPr algn="ctr" indent="0" marL="0">
              <a:buNone/>
            </a:pPr>
            <a:r>
              <a:rPr lang="en-US" sz="1300" b="1" dirty="0">
                <a:solidFill>
                  <a:srgbClr val="2B1D0E"/>
                </a:solidFill>
                <a:latin typeface="Segoe UI" pitchFamily="34" charset="0"/>
                <a:ea typeface="Segoe UI" pitchFamily="34" charset="-122"/>
                <a:cs typeface="Segoe UI" pitchFamily="34" charset="-120"/>
              </a:rPr>
              <a:t>2</a:t>
            </a:r>
            <a:endParaRPr lang="en-US" sz="1300" dirty="0"/>
          </a:p>
        </p:txBody>
      </p:sp>
      <p:sp>
        <p:nvSpPr>
          <p:cNvPr id="21" name="Text 18"/>
          <p:cNvSpPr/>
          <p:nvPr/>
        </p:nvSpPr>
        <p:spPr>
          <a:xfrm>
            <a:off x="4937760" y="2432304"/>
            <a:ext cx="3566160" cy="274320"/>
          </a:xfrm>
          <a:prstGeom prst="rect">
            <a:avLst/>
          </a:prstGeom>
          <a:noFill/>
          <a:ln/>
        </p:spPr>
        <p:txBody>
          <a:bodyPr wrap="square" lIns="0" tIns="0" rIns="0" bIns="0" rtlCol="0" anchor="t"/>
          <a:lstStyle/>
          <a:p>
            <a:pPr indent="0" marL="0">
              <a:buNone/>
            </a:pPr>
            <a:r>
              <a:rPr lang="en-US" sz="1150" b="1" dirty="0">
                <a:solidFill>
                  <a:srgbClr val="2B1D0E"/>
                </a:solidFill>
                <a:latin typeface="Segoe UI" pitchFamily="34" charset="0"/>
                <a:ea typeface="Segoe UI" pitchFamily="34" charset="-122"/>
                <a:cs typeface="Segoe UI" pitchFamily="34" charset="-120"/>
              </a:rPr>
              <a:t>Show menu prices and average spend</a:t>
            </a:r>
            <a:endParaRPr lang="en-US" sz="1150" dirty="0"/>
          </a:p>
        </p:txBody>
      </p:sp>
      <p:sp>
        <p:nvSpPr>
          <p:cNvPr id="22" name="Text 19"/>
          <p:cNvSpPr/>
          <p:nvPr/>
        </p:nvSpPr>
        <p:spPr>
          <a:xfrm>
            <a:off x="4937760" y="2706624"/>
            <a:ext cx="3566160" cy="237744"/>
          </a:xfrm>
          <a:prstGeom prst="rect">
            <a:avLst/>
          </a:prstGeom>
          <a:noFill/>
          <a:ln/>
        </p:spPr>
        <p:txBody>
          <a:bodyPr wrap="square" lIns="0" tIns="0" rIns="0" bIns="0" rtlCol="0" anchor="t"/>
          <a:lstStyle/>
          <a:p>
            <a:pPr indent="0" marL="0">
              <a:buNone/>
            </a:pPr>
            <a:r>
              <a:rPr lang="en-US" sz="1050" dirty="0">
                <a:solidFill>
                  <a:srgbClr val="7A6650"/>
                </a:solidFill>
                <a:latin typeface="Segoe UI" pitchFamily="34" charset="0"/>
                <a:ea typeface="Segoe UI" pitchFamily="34" charset="-122"/>
                <a:cs typeface="Segoe UI" pitchFamily="34" charset="-120"/>
              </a:rPr>
              <a:t>budget was unclear for 56%</a:t>
            </a:r>
            <a:endParaRPr lang="en-US" sz="1050" dirty="0"/>
          </a:p>
        </p:txBody>
      </p:sp>
      <p:sp>
        <p:nvSpPr>
          <p:cNvPr id="23" name="Shape 20"/>
          <p:cNvSpPr/>
          <p:nvPr/>
        </p:nvSpPr>
        <p:spPr>
          <a:xfrm>
            <a:off x="4407408" y="3145536"/>
            <a:ext cx="384048" cy="384048"/>
          </a:xfrm>
          <a:prstGeom prst="ellipse">
            <a:avLst/>
          </a:prstGeom>
          <a:solidFill>
            <a:srgbClr val="FFC83D"/>
          </a:solidFill>
          <a:ln w="12700">
            <a:solidFill>
              <a:srgbClr val="FFC83D"/>
            </a:solidFill>
            <a:prstDash val="solid"/>
          </a:ln>
        </p:spPr>
      </p:sp>
      <p:sp>
        <p:nvSpPr>
          <p:cNvPr id="24" name="Text 21"/>
          <p:cNvSpPr/>
          <p:nvPr/>
        </p:nvSpPr>
        <p:spPr>
          <a:xfrm>
            <a:off x="4407408" y="3145536"/>
            <a:ext cx="384048" cy="384048"/>
          </a:xfrm>
          <a:prstGeom prst="rect">
            <a:avLst/>
          </a:prstGeom>
          <a:noFill/>
          <a:ln/>
        </p:spPr>
        <p:txBody>
          <a:bodyPr wrap="square" lIns="0" tIns="0" rIns="0" bIns="0" rtlCol="0" anchor="ctr"/>
          <a:lstStyle/>
          <a:p>
            <a:pPr algn="ctr" indent="0" marL="0">
              <a:buNone/>
            </a:pPr>
            <a:r>
              <a:rPr lang="en-US" sz="1300" b="1" dirty="0">
                <a:solidFill>
                  <a:srgbClr val="2B1D0E"/>
                </a:solidFill>
                <a:latin typeface="Segoe UI" pitchFamily="34" charset="0"/>
                <a:ea typeface="Segoe UI" pitchFamily="34" charset="-122"/>
                <a:cs typeface="Segoe UI" pitchFamily="34" charset="-120"/>
              </a:rPr>
              <a:t>3</a:t>
            </a:r>
            <a:endParaRPr lang="en-US" sz="1300" dirty="0"/>
          </a:p>
        </p:txBody>
      </p:sp>
      <p:sp>
        <p:nvSpPr>
          <p:cNvPr id="25" name="Text 22"/>
          <p:cNvSpPr/>
          <p:nvPr/>
        </p:nvSpPr>
        <p:spPr>
          <a:xfrm>
            <a:off x="4937760" y="3108960"/>
            <a:ext cx="3566160" cy="274320"/>
          </a:xfrm>
          <a:prstGeom prst="rect">
            <a:avLst/>
          </a:prstGeom>
          <a:noFill/>
          <a:ln/>
        </p:spPr>
        <p:txBody>
          <a:bodyPr wrap="square" lIns="0" tIns="0" rIns="0" bIns="0" rtlCol="0" anchor="t"/>
          <a:lstStyle/>
          <a:p>
            <a:pPr indent="0" marL="0">
              <a:buNone/>
            </a:pPr>
            <a:r>
              <a:rPr lang="en-US" sz="1150" b="1" dirty="0">
                <a:solidFill>
                  <a:srgbClr val="2B1D0E"/>
                </a:solidFill>
                <a:latin typeface="Segoe UI" pitchFamily="34" charset="0"/>
                <a:ea typeface="Segoe UI" pitchFamily="34" charset="-122"/>
                <a:cs typeface="Segoe UI" pitchFamily="34" charset="-120"/>
              </a:rPr>
              <a:t>Less on each screen, more spacing</a:t>
            </a:r>
            <a:endParaRPr lang="en-US" sz="1150" dirty="0"/>
          </a:p>
        </p:txBody>
      </p:sp>
      <p:sp>
        <p:nvSpPr>
          <p:cNvPr id="26" name="Text 23"/>
          <p:cNvSpPr/>
          <p:nvPr/>
        </p:nvSpPr>
        <p:spPr>
          <a:xfrm>
            <a:off x="4937760" y="3383280"/>
            <a:ext cx="3566160" cy="237744"/>
          </a:xfrm>
          <a:prstGeom prst="rect">
            <a:avLst/>
          </a:prstGeom>
          <a:noFill/>
          <a:ln/>
        </p:spPr>
        <p:txBody>
          <a:bodyPr wrap="square" lIns="0" tIns="0" rIns="0" bIns="0" rtlCol="0" anchor="t"/>
          <a:lstStyle/>
          <a:p>
            <a:pPr indent="0" marL="0">
              <a:buNone/>
            </a:pPr>
            <a:r>
              <a:rPr lang="en-US" sz="1050" dirty="0">
                <a:solidFill>
                  <a:srgbClr val="7A6650"/>
                </a:solidFill>
                <a:latin typeface="Segoe UI" pitchFamily="34" charset="0"/>
                <a:ea typeface="Segoe UI" pitchFamily="34" charset="-122"/>
                <a:cs typeface="Segoe UI" pitchFamily="34" charset="-120"/>
              </a:rPr>
              <a:t>asked for by 3 interviewees</a:t>
            </a:r>
            <a:endParaRPr lang="en-US" sz="1050" dirty="0"/>
          </a:p>
        </p:txBody>
      </p:sp>
      <p:sp>
        <p:nvSpPr>
          <p:cNvPr id="27" name="Shape 24"/>
          <p:cNvSpPr/>
          <p:nvPr/>
        </p:nvSpPr>
        <p:spPr>
          <a:xfrm>
            <a:off x="4407408" y="3822192"/>
            <a:ext cx="384048" cy="384048"/>
          </a:xfrm>
          <a:prstGeom prst="ellipse">
            <a:avLst/>
          </a:prstGeom>
          <a:solidFill>
            <a:srgbClr val="FFC83D"/>
          </a:solidFill>
          <a:ln w="12700">
            <a:solidFill>
              <a:srgbClr val="FFC83D"/>
            </a:solidFill>
            <a:prstDash val="solid"/>
          </a:ln>
        </p:spPr>
      </p:sp>
      <p:sp>
        <p:nvSpPr>
          <p:cNvPr id="28" name="Text 25"/>
          <p:cNvSpPr/>
          <p:nvPr/>
        </p:nvSpPr>
        <p:spPr>
          <a:xfrm>
            <a:off x="4407408" y="3822192"/>
            <a:ext cx="384048" cy="384048"/>
          </a:xfrm>
          <a:prstGeom prst="rect">
            <a:avLst/>
          </a:prstGeom>
          <a:noFill/>
          <a:ln/>
        </p:spPr>
        <p:txBody>
          <a:bodyPr wrap="square" lIns="0" tIns="0" rIns="0" bIns="0" rtlCol="0" anchor="ctr"/>
          <a:lstStyle/>
          <a:p>
            <a:pPr algn="ctr" indent="0" marL="0">
              <a:buNone/>
            </a:pPr>
            <a:r>
              <a:rPr lang="en-US" sz="1300" b="1" dirty="0">
                <a:solidFill>
                  <a:srgbClr val="2B1D0E"/>
                </a:solidFill>
                <a:latin typeface="Segoe UI" pitchFamily="34" charset="0"/>
                <a:ea typeface="Segoe UI" pitchFamily="34" charset="-122"/>
                <a:cs typeface="Segoe UI" pitchFamily="34" charset="-120"/>
              </a:rPr>
              <a:t>4</a:t>
            </a:r>
            <a:endParaRPr lang="en-US" sz="1300" dirty="0"/>
          </a:p>
        </p:txBody>
      </p:sp>
      <p:sp>
        <p:nvSpPr>
          <p:cNvPr id="29" name="Text 26"/>
          <p:cNvSpPr/>
          <p:nvPr/>
        </p:nvSpPr>
        <p:spPr>
          <a:xfrm>
            <a:off x="4937760" y="3785616"/>
            <a:ext cx="3566160" cy="274320"/>
          </a:xfrm>
          <a:prstGeom prst="rect">
            <a:avLst/>
          </a:prstGeom>
          <a:noFill/>
          <a:ln/>
        </p:spPr>
        <p:txBody>
          <a:bodyPr wrap="square" lIns="0" tIns="0" rIns="0" bIns="0" rtlCol="0" anchor="t"/>
          <a:lstStyle/>
          <a:p>
            <a:pPr indent="0" marL="0">
              <a:buNone/>
            </a:pPr>
            <a:r>
              <a:rPr lang="en-US" sz="1150" b="1" dirty="0">
                <a:solidFill>
                  <a:srgbClr val="2B1D0E"/>
                </a:solidFill>
                <a:latin typeface="Segoe UI" pitchFamily="34" charset="0"/>
                <a:ea typeface="Segoe UI" pitchFamily="34" charset="-122"/>
                <a:cs typeface="Segoe UI" pitchFamily="34" charset="-120"/>
              </a:rPr>
              <a:t>Photos in reviews</a:t>
            </a:r>
            <a:endParaRPr lang="en-US" sz="1150" dirty="0"/>
          </a:p>
        </p:txBody>
      </p:sp>
      <p:sp>
        <p:nvSpPr>
          <p:cNvPr id="30" name="Text 27"/>
          <p:cNvSpPr/>
          <p:nvPr/>
        </p:nvSpPr>
        <p:spPr>
          <a:xfrm>
            <a:off x="4937760" y="4059936"/>
            <a:ext cx="3566160" cy="237744"/>
          </a:xfrm>
          <a:prstGeom prst="rect">
            <a:avLst/>
          </a:prstGeom>
          <a:noFill/>
          <a:ln/>
        </p:spPr>
        <p:txBody>
          <a:bodyPr wrap="square" lIns="0" tIns="0" rIns="0" bIns="0" rtlCol="0" anchor="t"/>
          <a:lstStyle/>
          <a:p>
            <a:pPr indent="0" marL="0">
              <a:buNone/>
            </a:pPr>
            <a:r>
              <a:rPr lang="en-US" sz="1050" dirty="0">
                <a:solidFill>
                  <a:srgbClr val="7A6650"/>
                </a:solidFill>
                <a:latin typeface="Segoe UI" pitchFamily="34" charset="0"/>
                <a:ea typeface="Segoe UI" pitchFamily="34" charset="-122"/>
                <a:cs typeface="Segoe UI" pitchFamily="34" charset="-120"/>
              </a:rPr>
              <a:t>so reviews feel first-hand</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Keni: validation results</dc:title>
  <dc:subject>PptxGenJS Presentation</dc:subject>
  <dc:creator>PptxGenJS</dc:creator>
  <cp:lastModifiedBy>PptxGenJS</cp:lastModifiedBy>
  <cp:revision>1</cp:revision>
  <dcterms:created xsi:type="dcterms:W3CDTF">2026-10-13T14:25:56Z</dcterms:created>
  <dcterms:modified xsi:type="dcterms:W3CDTF">2026-10-13T14:25:56Z</dcterms:modified>
</cp:coreProperties>
</file>